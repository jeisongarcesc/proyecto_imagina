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2.xml" ContentType="application/vnd.openxmlformats-officedocument.presentationml.notesSlide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96" r:id="rId2"/>
    <p:sldId id="310" r:id="rId3"/>
    <p:sldId id="309" r:id="rId4"/>
    <p:sldId id="299" r:id="rId5"/>
    <p:sldId id="301" r:id="rId6"/>
    <p:sldId id="302" r:id="rId7"/>
    <p:sldId id="298" r:id="rId8"/>
    <p:sldId id="300" r:id="rId9"/>
  </p:sldIdLst>
  <p:sldSz cx="6858000" cy="9144000" type="letter"/>
  <p:notesSz cx="6858000" cy="9144000"/>
  <p:defaultTextStyle>
    <a:defPPr>
      <a:defRPr lang="es-CO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777777"/>
    <a:srgbClr val="F1B434"/>
    <a:srgbClr val="A15A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06" autoAdjust="0"/>
    <p:restoredTop sz="99031" autoAdjust="0"/>
  </p:normalViewPr>
  <p:slideViewPr>
    <p:cSldViewPr>
      <p:cViewPr>
        <p:scale>
          <a:sx n="90" d="100"/>
          <a:sy n="90" d="100"/>
        </p:scale>
        <p:origin x="-2912" y="-80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viewProps" Target="viewProps.xml"/><Relationship Id="rId8" Type="http://schemas.openxmlformats.org/officeDocument/2006/relationships/slide" Target="slides/slide7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12" Type="http://schemas.openxmlformats.org/officeDocument/2006/relationships/presProps" Target="presProps.xml"/><Relationship Id="rId7" Type="http://schemas.openxmlformats.org/officeDocument/2006/relationships/slide" Target="slides/slide6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1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1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endParaRPr lang="es-E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fld id="{46EB2400-3493-4A50-998E-A85F74E98F7E}" type="datetimeFigureOut">
              <a:rPr lang="es-ES"/>
              <a:pPr/>
              <a:t>11/05/16</a:t>
            </a:fld>
            <a:endParaRPr lang="es-E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43125" y="685800"/>
            <a:ext cx="257175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endParaRPr lang="es-E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fld id="{4DBE4B00-6ED2-49B9-B7C8-0E8018648808}" type="slidenum">
              <a:rPr lang="es-ES"/>
              <a:pPr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91198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865806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14500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718401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828061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481644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290058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407461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7487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514350" y="2840569"/>
            <a:ext cx="5829300" cy="196003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9E5E2B-BEEC-4A47-B5A8-71A0F1695462}" type="slidenum">
              <a:rPr lang="es-CO"/>
              <a:pPr>
                <a:defRPr/>
              </a:pPr>
              <a:t>‹Nr.›</a:t>
            </a:fld>
            <a:endParaRPr lang="es-C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91E253-A725-423C-B919-A211DCE93A9A}" type="slidenum">
              <a:rPr lang="es-CO"/>
              <a:pPr>
                <a:defRPr/>
              </a:pPr>
              <a:t>‹Nr.›</a:t>
            </a:fld>
            <a:endParaRPr lang="es-C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41735" y="3875619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598EB7-67E8-4DDC-B923-F2C9149C1609}" type="slidenum">
              <a:rPr lang="es-CO"/>
              <a:pPr>
                <a:defRPr/>
              </a:pPr>
              <a:t>‹Nr.›</a:t>
            </a:fld>
            <a:endParaRPr lang="es-C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257177" y="2844801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2628902" y="2844801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A38D75-5E58-4127-9E08-E1313CC5CC27}" type="slidenum">
              <a:rPr lang="es-CO"/>
              <a:pPr>
                <a:defRPr/>
              </a:pPr>
              <a:t>‹Nr.›</a:t>
            </a:fld>
            <a:endParaRPr lang="es-C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42900" y="2046818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3483771" y="2046818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3483771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9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1200B2-7971-43B2-B8EB-190D89B45E01}" type="slidenum">
              <a:rPr lang="es-CO"/>
              <a:pPr>
                <a:defRPr/>
              </a:pPr>
              <a:t>‹Nr.›</a:t>
            </a:fld>
            <a:endParaRPr lang="es-C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4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DA5762-DDD8-45E3-883E-8D8F1F4AE5CD}" type="slidenum">
              <a:rPr lang="es-CO"/>
              <a:pPr>
                <a:defRPr/>
              </a:pPr>
              <a:t>‹Nr.›</a:t>
            </a:fld>
            <a:endParaRPr lang="es-C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3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105B08-11D5-43B4-9156-3A47079672EF}" type="slidenum">
              <a:rPr lang="es-CO"/>
              <a:pPr>
                <a:defRPr/>
              </a:pPr>
              <a:t>‹Nr.›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2" y="364068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681289" y="364068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342902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E7F49D-AA1B-4EA8-A605-22723C4AC261}" type="slidenum">
              <a:rPr lang="es-CO"/>
              <a:pPr>
                <a:defRPr/>
              </a:pPr>
              <a:t>‹Nr.›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344216" y="6400801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CO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344216" y="7156452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8466E9-864D-457C-B92B-30B1CB195294}" type="slidenum">
              <a:rPr lang="es-CO"/>
              <a:pPr>
                <a:defRPr/>
              </a:pPr>
              <a:t>‹Nr.›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7F9F05-79F6-4AC0-953A-08E91FBDA240}" type="slidenum">
              <a:rPr lang="es-CO"/>
              <a:pPr>
                <a:defRPr/>
              </a:pPr>
              <a:t>‹Nr.›</a:t>
            </a:fld>
            <a:endParaRPr lang="es-C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3729037" y="488952"/>
            <a:ext cx="1157288" cy="104013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257176" y="488952"/>
            <a:ext cx="3357563" cy="1040130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CEB3BE-FB0E-4642-AA23-E78BC9367990}" type="slidenum">
              <a:rPr lang="es-CO"/>
              <a:pPr>
                <a:defRPr/>
              </a:pPr>
              <a:t>‹Nr.›</a:t>
            </a:fld>
            <a:endParaRPr lang="es-C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342900" y="366713"/>
            <a:ext cx="61722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título del patrón</a:t>
            </a:r>
            <a:endParaRPr lang="es-CO" smtClean="0"/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342900" y="2133600"/>
            <a:ext cx="6172200" cy="603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 smtClean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0" y="8604250"/>
            <a:ext cx="2133600" cy="3413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343150" y="8475663"/>
            <a:ext cx="2171700" cy="4857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4914900" y="8475663"/>
            <a:ext cx="1600200" cy="485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99748EC-4ED9-4F3A-8C11-019F9A07A807}" type="slidenum">
              <a:rPr lang="es-CO"/>
              <a:pPr>
                <a:defRPr/>
              </a:pPr>
              <a:t>‹Nr.›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4" Type="http://schemas.openxmlformats.org/officeDocument/2006/relationships/image" Target="../media/image10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3.jpeg"/><Relationship Id="rId9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1" Type="http://schemas.openxmlformats.org/officeDocument/2006/relationships/image" Target="../media/image33.png"/><Relationship Id="rId12" Type="http://schemas.openxmlformats.org/officeDocument/2006/relationships/image" Target="../media/image34.png"/><Relationship Id="rId13" Type="http://schemas.openxmlformats.org/officeDocument/2006/relationships/image" Target="../media/image35.png"/><Relationship Id="rId14" Type="http://schemas.openxmlformats.org/officeDocument/2006/relationships/image" Target="../media/image36.png"/><Relationship Id="rId15" Type="http://schemas.openxmlformats.org/officeDocument/2006/relationships/image" Target="../media/image37.png"/><Relationship Id="rId16" Type="http://schemas.openxmlformats.org/officeDocument/2006/relationships/image" Target="../media/image38.png"/><Relationship Id="rId17" Type="http://schemas.openxmlformats.org/officeDocument/2006/relationships/image" Target="../media/image39.png"/><Relationship Id="rId18" Type="http://schemas.openxmlformats.org/officeDocument/2006/relationships/image" Target="../media/image40.png"/><Relationship Id="rId19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.jpeg"/><Relationship Id="rId9" Type="http://schemas.openxmlformats.org/officeDocument/2006/relationships/image" Target="../media/image31.png"/><Relationship Id="rId10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Relationship Id="rId10" Type="http://schemas.openxmlformats.org/officeDocument/2006/relationships/image" Target="../media/image49.png"/><Relationship Id="rId11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4180" y="1440981"/>
            <a:ext cx="1812723" cy="3330643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397" y="755576"/>
            <a:ext cx="2473429" cy="4156624"/>
          </a:xfrm>
          <a:prstGeom prst="rect">
            <a:avLst/>
          </a:prstGeom>
        </p:spPr>
      </p:pic>
      <p:sp>
        <p:nvSpPr>
          <p:cNvPr id="18" name="17 Rectángulo redondeado"/>
          <p:cNvSpPr>
            <a:spLocks noChangeArrowheads="1"/>
          </p:cNvSpPr>
          <p:nvPr/>
        </p:nvSpPr>
        <p:spPr bwMode="auto">
          <a:xfrm>
            <a:off x="214313" y="214314"/>
            <a:ext cx="6429375" cy="591316"/>
          </a:xfrm>
          <a:prstGeom prst="roundRect">
            <a:avLst>
              <a:gd name="adj" fmla="val 7903"/>
            </a:avLst>
          </a:prstGeom>
          <a:solidFill>
            <a:schemeClr val="bg1">
              <a:lumMod val="85000"/>
            </a:schemeClr>
          </a:solidFill>
          <a:ln w="3175" algn="ctr">
            <a:noFill/>
            <a:round/>
            <a:headEnd/>
            <a:tailEnd/>
          </a:ln>
        </p:spPr>
        <p:txBody>
          <a:bodyPr anchor="ctr"/>
          <a:lstStyle/>
          <a:p>
            <a:pPr algn="r"/>
            <a:r>
              <a:rPr lang="es-MX" dirty="0" smtClean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                     Información </a:t>
            </a:r>
            <a:r>
              <a:rPr lang="es-MX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Técnica de </a:t>
            </a:r>
            <a:r>
              <a:rPr lang="es-MX" dirty="0" smtClean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Producto – </a:t>
            </a:r>
            <a:r>
              <a:rPr lang="es-MX" b="1" dirty="0" smtClean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Múltiple</a:t>
            </a:r>
            <a:endParaRPr lang="es-MX" b="1" dirty="0">
              <a:solidFill>
                <a:srgbClr val="000000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3460" name="Picture 148" descr="logo Mepal"/>
          <p:cNvPicPr>
            <a:picLocks noChangeAspect="1" noChangeArrowheads="1"/>
          </p:cNvPicPr>
          <p:nvPr/>
        </p:nvPicPr>
        <p:blipFill rotWithShape="1"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17748"/>
          <a:stretch/>
        </p:blipFill>
        <p:spPr bwMode="auto">
          <a:xfrm>
            <a:off x="260350" y="271959"/>
            <a:ext cx="1440458" cy="533670"/>
          </a:xfrm>
          <a:prstGeom prst="rect">
            <a:avLst/>
          </a:prstGeom>
          <a:noFill/>
        </p:spPr>
      </p:pic>
      <p:graphicFrame>
        <p:nvGraphicFramePr>
          <p:cNvPr id="13458" name="Group 1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849020"/>
              </p:ext>
            </p:extLst>
          </p:nvPr>
        </p:nvGraphicFramePr>
        <p:xfrm>
          <a:off x="285729" y="5128512"/>
          <a:ext cx="6286543" cy="3547944"/>
        </p:xfrm>
        <a:graphic>
          <a:graphicData uri="http://schemas.openxmlformats.org/drawingml/2006/table">
            <a:tbl>
              <a:tblPr/>
              <a:tblGrid>
                <a:gridCol w="1703111"/>
                <a:gridCol w="3096344"/>
                <a:gridCol w="1487088"/>
              </a:tblGrid>
              <a:tr h="123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rebuchet MS" pitchFamily="34" charset="0"/>
                        </a:rPr>
                        <a:t>Elemento</a:t>
                      </a:r>
                      <a:endParaRPr kumimoji="0" lang="es-CO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rebuchet MS" pitchFamily="34" charset="0"/>
                        </a:rPr>
                        <a:t>Material</a:t>
                      </a:r>
                      <a:endParaRPr kumimoji="0" lang="es-CO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rebuchet MS" pitchFamily="34" charset="0"/>
                        </a:rPr>
                        <a:t>Acabado</a:t>
                      </a:r>
                      <a:endParaRPr kumimoji="0" lang="es-CO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</a:tr>
              <a:tr h="122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1. Marcos panel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Alturas: 90/110/128/166/204cm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Frentes: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30/45/60/75/90/105/120/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150cm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Espesor Final: 8cm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lang="es-CO" sz="1000" dirty="0" smtClean="0">
                          <a:latin typeface="Segoe UI Light" pitchFamily="34" charset="0"/>
                        </a:rPr>
                        <a:t>Parales </a:t>
                      </a:r>
                      <a:r>
                        <a:rPr lang="es-CO" sz="1000" dirty="0" err="1" smtClean="0">
                          <a:latin typeface="Segoe UI Light" pitchFamily="34" charset="0"/>
                        </a:rPr>
                        <a:t>ranurados</a:t>
                      </a:r>
                      <a:r>
                        <a:rPr lang="es-CO" sz="1000" dirty="0" smtClean="0">
                          <a:latin typeface="Segoe UI Light" pitchFamily="34" charset="0"/>
                        </a:rPr>
                        <a:t> en lamina </a:t>
                      </a:r>
                      <a:r>
                        <a:rPr lang="es-CO" sz="1000" dirty="0" err="1" smtClean="0">
                          <a:latin typeface="Segoe UI Light" pitchFamily="34" charset="0"/>
                        </a:rPr>
                        <a:t>cold</a:t>
                      </a:r>
                      <a:r>
                        <a:rPr lang="es-CO" sz="1000" dirty="0" smtClean="0">
                          <a:latin typeface="Segoe UI Light" pitchFamily="34" charset="0"/>
                        </a:rPr>
                        <a:t> </a:t>
                      </a:r>
                      <a:r>
                        <a:rPr lang="es-CO" sz="1000" dirty="0" err="1" smtClean="0">
                          <a:latin typeface="Segoe UI Light" pitchFamily="34" charset="0"/>
                        </a:rPr>
                        <a:t>rolled</a:t>
                      </a:r>
                      <a:r>
                        <a:rPr lang="es-CO" sz="1000" dirty="0" smtClean="0">
                          <a:latin typeface="Segoe UI Light" pitchFamily="34" charset="0"/>
                        </a:rPr>
                        <a:t> Calibre 18. Paso de </a:t>
                      </a:r>
                      <a:r>
                        <a:rPr lang="es-CO" sz="1000" dirty="0" err="1" smtClean="0">
                          <a:latin typeface="Segoe UI Light" pitchFamily="34" charset="0"/>
                        </a:rPr>
                        <a:t>ranurado</a:t>
                      </a:r>
                      <a:r>
                        <a:rPr lang="es-CO" sz="1000" dirty="0" smtClean="0">
                          <a:latin typeface="Segoe UI Light" pitchFamily="34" charset="0"/>
                        </a:rPr>
                        <a:t> para accesorios cada 8 </a:t>
                      </a:r>
                      <a:r>
                        <a:rPr lang="es-CO" sz="1000" dirty="0" err="1" smtClean="0">
                          <a:latin typeface="Segoe UI Light" pitchFamily="34" charset="0"/>
                        </a:rPr>
                        <a:t>mm.</a:t>
                      </a:r>
                      <a:r>
                        <a:rPr lang="es-CO" sz="1000" baseline="0" dirty="0" smtClean="0">
                          <a:latin typeface="Segoe UI Light" pitchFamily="34" charset="0"/>
                        </a:rPr>
                        <a:t> Primer travesaño en lámina de acero </a:t>
                      </a:r>
                      <a:r>
                        <a:rPr lang="es-CO" sz="1000" baseline="0" dirty="0" err="1" smtClean="0">
                          <a:latin typeface="Segoe UI Light" pitchFamily="34" charset="0"/>
                        </a:rPr>
                        <a:t>cold-rolled</a:t>
                      </a:r>
                      <a:r>
                        <a:rPr lang="es-CO" sz="1000" baseline="0" dirty="0" smtClean="0">
                          <a:latin typeface="Segoe UI Light" pitchFamily="34" charset="0"/>
                        </a:rPr>
                        <a:t> calibre 18. T</a:t>
                      </a:r>
                      <a:r>
                        <a:rPr lang="es-CO" sz="1000" dirty="0" smtClean="0">
                          <a:latin typeface="Segoe UI Light" pitchFamily="34" charset="0"/>
                        </a:rPr>
                        <a:t>ravesaños superiores</a:t>
                      </a:r>
                      <a:r>
                        <a:rPr lang="es-CO" sz="1000" baseline="0" dirty="0" smtClean="0">
                          <a:latin typeface="Segoe UI Light" pitchFamily="34" charset="0"/>
                        </a:rPr>
                        <a:t> en </a:t>
                      </a:r>
                      <a:r>
                        <a:rPr lang="es-CO" sz="1000" dirty="0" err="1" smtClean="0">
                          <a:latin typeface="Segoe UI Light" pitchFamily="34" charset="0"/>
                        </a:rPr>
                        <a:t>tuberia</a:t>
                      </a:r>
                      <a:r>
                        <a:rPr lang="es-CO" sz="1000" dirty="0" smtClean="0">
                          <a:latin typeface="Segoe UI Light" pitchFamily="34" charset="0"/>
                        </a:rPr>
                        <a:t> </a:t>
                      </a:r>
                      <a:r>
                        <a:rPr lang="es-CO" sz="1000" dirty="0" err="1" smtClean="0">
                          <a:latin typeface="Segoe UI Light" pitchFamily="34" charset="0"/>
                        </a:rPr>
                        <a:t>cold</a:t>
                      </a:r>
                      <a:r>
                        <a:rPr lang="es-CO" sz="1000" dirty="0" smtClean="0">
                          <a:latin typeface="Segoe UI Light" pitchFamily="34" charset="0"/>
                        </a:rPr>
                        <a:t> </a:t>
                      </a:r>
                      <a:r>
                        <a:rPr lang="es-CO" sz="1000" dirty="0" err="1" smtClean="0">
                          <a:latin typeface="Segoe UI Light" pitchFamily="34" charset="0"/>
                        </a:rPr>
                        <a:t>rolled</a:t>
                      </a:r>
                      <a:r>
                        <a:rPr lang="es-CO" sz="1000" dirty="0" smtClean="0">
                          <a:latin typeface="Segoe UI Light" pitchFamily="34" charset="0"/>
                        </a:rPr>
                        <a:t> 1 x 1/2 " cal 16 / 1x2" cal 20. Perfil de unión OFI-028 (no</a:t>
                      </a:r>
                      <a:r>
                        <a:rPr lang="es-CO" sz="1000" baseline="0" dirty="0" smtClean="0">
                          <a:latin typeface="Segoe UI Light" pitchFamily="34" charset="0"/>
                        </a:rPr>
                        <a:t> incluido en el marco).</a:t>
                      </a:r>
                      <a:endParaRPr lang="es-ES" sz="1000" baseline="0" dirty="0" smtClean="0">
                        <a:latin typeface="Segoe UI Light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Pintura </a:t>
                      </a:r>
                      <a:r>
                        <a:rPr lang="es-ES" sz="1000" kern="120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horneable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de aplicación electrostática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.</a:t>
                      </a:r>
                      <a:endParaRPr lang="es-ES" sz="1000" kern="1200" dirty="0" smtClean="0">
                        <a:solidFill>
                          <a:schemeClr val="tx1"/>
                        </a:solidFill>
                        <a:latin typeface="Segoe UI Light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4085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2. Zócalos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lang="es-CO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Lámina de acero </a:t>
                      </a:r>
                      <a:r>
                        <a:rPr lang="es-CO" sz="1000" kern="120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cold-rolled</a:t>
                      </a:r>
                      <a:r>
                        <a:rPr lang="es-CO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calibre 18. Inferiores con unión de pines de Nylon.</a:t>
                      </a:r>
                      <a:endParaRPr lang="es-ES" sz="1000" kern="1200" dirty="0" smtClean="0">
                        <a:solidFill>
                          <a:schemeClr val="tx1"/>
                        </a:solidFill>
                        <a:latin typeface="Segoe UI Light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000" kern="1200" dirty="0" smtClean="0">
                        <a:solidFill>
                          <a:schemeClr val="tx1"/>
                        </a:solidFill>
                        <a:latin typeface="Segoe UI Light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23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3. Bisel superior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lang="es-CO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Perfil de aluminio OFI-002.</a:t>
                      </a:r>
                      <a:endParaRPr lang="es-ES" sz="1000" kern="1200" dirty="0" smtClean="0">
                        <a:solidFill>
                          <a:schemeClr val="tx1"/>
                        </a:solidFill>
                        <a:latin typeface="Segoe UI Light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000" kern="1200" dirty="0" smtClean="0">
                        <a:solidFill>
                          <a:schemeClr val="tx1"/>
                        </a:solidFill>
                        <a:latin typeface="Segoe UI Light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23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4. Bandejas cableado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Bandeja intermedia en lámina</a:t>
                      </a: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de acero </a:t>
                      </a:r>
                      <a:r>
                        <a:rPr lang="es-ES" sz="1000" kern="1200" baseline="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cold-rolled</a:t>
                      </a: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calibre 22, e inferior sella piso en calibre 20.</a:t>
                      </a:r>
                      <a:endParaRPr lang="es-ES" sz="1000" kern="1200" dirty="0" smtClean="0">
                        <a:solidFill>
                          <a:schemeClr val="tx1"/>
                        </a:solidFill>
                        <a:latin typeface="Segoe UI Light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000" kern="1200" dirty="0" smtClean="0">
                        <a:solidFill>
                          <a:schemeClr val="tx1"/>
                        </a:solidFill>
                        <a:latin typeface="Segoe UI Light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23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5. Niveladores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Nivelador 5/16” x 2-1/2” Base antideslizante y sin plataforma.</a:t>
                      </a:r>
                      <a:endParaRPr lang="es-ES" sz="1000" kern="1200" dirty="0" smtClean="0">
                        <a:solidFill>
                          <a:schemeClr val="tx1"/>
                        </a:solidFill>
                        <a:latin typeface="Segoe UI Light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Plástico</a:t>
                      </a: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negro.</a:t>
                      </a:r>
                      <a:endParaRPr lang="es-ES" sz="1000" kern="1200" dirty="0" smtClean="0">
                        <a:solidFill>
                          <a:schemeClr val="tx1"/>
                        </a:solidFill>
                        <a:latin typeface="Segoe UI Light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23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6. Perfil de unión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lang="es-CO" sz="1000" dirty="0" smtClean="0">
                          <a:latin typeface="Segoe UI Light" pitchFamily="34" charset="0"/>
                        </a:rPr>
                        <a:t>Perfil de unión OFI-028 (no</a:t>
                      </a:r>
                      <a:r>
                        <a:rPr lang="es-CO" sz="1000" baseline="0" dirty="0" smtClean="0">
                          <a:latin typeface="Segoe UI Light" pitchFamily="34" charset="0"/>
                        </a:rPr>
                        <a:t> incluido en el marco).</a:t>
                      </a:r>
                      <a:endParaRPr lang="es-ES" sz="1000" baseline="0" dirty="0" smtClean="0">
                        <a:latin typeface="Segoe UI Light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Pintura </a:t>
                      </a:r>
                      <a:r>
                        <a:rPr lang="es-ES" sz="1000" kern="120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horneable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de aplicación electrostática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.</a:t>
                      </a:r>
                      <a:endParaRPr lang="es-ES" sz="1000" kern="1200" dirty="0" smtClean="0">
                        <a:solidFill>
                          <a:schemeClr val="tx1"/>
                        </a:solidFill>
                        <a:latin typeface="Segoe UI Light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23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7. Módulo de Crecimiento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Alturas: 204 a 242/280/318cm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Frentes: 30/45/60/75/90/120cm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Espesor Final: 8cm</a:t>
                      </a:r>
                      <a:endParaRPr kumimoji="0" lang="es-E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lang="es-CO" sz="1000" dirty="0" smtClean="0">
                          <a:latin typeface="Segoe UI Light" pitchFamily="34" charset="0"/>
                        </a:rPr>
                        <a:t>Parales </a:t>
                      </a:r>
                      <a:r>
                        <a:rPr lang="es-CO" sz="1000" dirty="0" err="1" smtClean="0">
                          <a:latin typeface="Segoe UI Light" pitchFamily="34" charset="0"/>
                        </a:rPr>
                        <a:t>ranurados</a:t>
                      </a:r>
                      <a:r>
                        <a:rPr lang="es-CO" sz="1000" dirty="0" smtClean="0">
                          <a:latin typeface="Segoe UI Light" pitchFamily="34" charset="0"/>
                        </a:rPr>
                        <a:t> en lamina </a:t>
                      </a:r>
                      <a:r>
                        <a:rPr lang="es-CO" sz="1000" dirty="0" err="1" smtClean="0">
                          <a:latin typeface="Segoe UI Light" pitchFamily="34" charset="0"/>
                        </a:rPr>
                        <a:t>cold</a:t>
                      </a:r>
                      <a:r>
                        <a:rPr lang="es-CO" sz="1000" dirty="0" smtClean="0">
                          <a:latin typeface="Segoe UI Light" pitchFamily="34" charset="0"/>
                        </a:rPr>
                        <a:t> </a:t>
                      </a:r>
                      <a:r>
                        <a:rPr lang="es-CO" sz="1000" dirty="0" err="1" smtClean="0">
                          <a:latin typeface="Segoe UI Light" pitchFamily="34" charset="0"/>
                        </a:rPr>
                        <a:t>rolled</a:t>
                      </a:r>
                      <a:r>
                        <a:rPr lang="es-CO" sz="1000" dirty="0" smtClean="0">
                          <a:latin typeface="Segoe UI Light" pitchFamily="34" charset="0"/>
                        </a:rPr>
                        <a:t> Calibre 18. Travesaños </a:t>
                      </a:r>
                      <a:r>
                        <a:rPr lang="es-CO" sz="1000" dirty="0" err="1" smtClean="0">
                          <a:latin typeface="Segoe UI Light" pitchFamily="34" charset="0"/>
                        </a:rPr>
                        <a:t>tuberia</a:t>
                      </a:r>
                      <a:r>
                        <a:rPr lang="es-CO" sz="1000" dirty="0" smtClean="0">
                          <a:latin typeface="Segoe UI Light" pitchFamily="34" charset="0"/>
                        </a:rPr>
                        <a:t> </a:t>
                      </a:r>
                      <a:r>
                        <a:rPr lang="es-CO" sz="1000" dirty="0" err="1" smtClean="0">
                          <a:latin typeface="Segoe UI Light" pitchFamily="34" charset="0"/>
                        </a:rPr>
                        <a:t>cold</a:t>
                      </a:r>
                      <a:r>
                        <a:rPr lang="es-CO" sz="1000" dirty="0" smtClean="0">
                          <a:latin typeface="Segoe UI Light" pitchFamily="34" charset="0"/>
                        </a:rPr>
                        <a:t> </a:t>
                      </a:r>
                      <a:r>
                        <a:rPr lang="es-CO" sz="1000" dirty="0" err="1" smtClean="0">
                          <a:latin typeface="Segoe UI Light" pitchFamily="34" charset="0"/>
                        </a:rPr>
                        <a:t>rolled</a:t>
                      </a:r>
                      <a:r>
                        <a:rPr lang="es-CO" sz="1000" dirty="0" smtClean="0">
                          <a:latin typeface="Segoe UI Light" pitchFamily="34" charset="0"/>
                        </a:rPr>
                        <a:t> 1 x 1/2 " cal 16 / 1x2" cal 20.</a:t>
                      </a:r>
                      <a:endParaRPr lang="es-ES" sz="1000" baseline="0" dirty="0" smtClean="0">
                        <a:latin typeface="Segoe UI Light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000" kern="1200" dirty="0" smtClean="0">
                        <a:solidFill>
                          <a:schemeClr val="tx1"/>
                        </a:solidFill>
                        <a:latin typeface="Segoe UI Light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370" name="47 Rectángulo"/>
          <p:cNvSpPr>
            <a:spLocks noChangeArrowheads="1"/>
          </p:cNvSpPr>
          <p:nvPr/>
        </p:nvSpPr>
        <p:spPr bwMode="auto">
          <a:xfrm>
            <a:off x="5129213" y="8915400"/>
            <a:ext cx="1728787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MX" sz="900" dirty="0">
                <a:latin typeface="Helvetica"/>
                <a:cs typeface="Helvetica"/>
              </a:rPr>
              <a:t>F-30-042  Rev.03; 11-04-2014</a:t>
            </a:r>
            <a:endParaRPr lang="es-CO" sz="900" dirty="0">
              <a:latin typeface="Helvetica"/>
              <a:cs typeface="Helvetica"/>
            </a:endParaRPr>
          </a:p>
        </p:txBody>
      </p:sp>
      <p:sp>
        <p:nvSpPr>
          <p:cNvPr id="13462" name="AutoShape 150" descr="cid:image003.png@01CBE32D.F4A50500"/>
          <p:cNvSpPr>
            <a:spLocks noChangeAspect="1" noChangeArrowheads="1"/>
          </p:cNvSpPr>
          <p:nvPr/>
        </p:nvSpPr>
        <p:spPr bwMode="auto">
          <a:xfrm>
            <a:off x="123825" y="46038"/>
            <a:ext cx="1962150" cy="857250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  <p:sp>
        <p:nvSpPr>
          <p:cNvPr id="13464" name="AutoShape 152" descr="cid:image003.png@01CBE32D.F4A50500"/>
          <p:cNvSpPr>
            <a:spLocks noChangeAspect="1" noChangeArrowheads="1"/>
          </p:cNvSpPr>
          <p:nvPr/>
        </p:nvSpPr>
        <p:spPr bwMode="auto">
          <a:xfrm>
            <a:off x="1393172" y="4004553"/>
            <a:ext cx="1962150" cy="857250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  <p:sp>
        <p:nvSpPr>
          <p:cNvPr id="2" name="13 Rectángulo"/>
          <p:cNvSpPr/>
          <p:nvPr/>
        </p:nvSpPr>
        <p:spPr>
          <a:xfrm>
            <a:off x="4926083" y="996107"/>
            <a:ext cx="2074816" cy="2635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s-MX" sz="1400" b="1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Marcos </a:t>
            </a:r>
            <a:endParaRPr lang="es-MX" sz="1400" b="1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146" name="AutoShape 2" descr="Imágenes integradas 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6148" name="AutoShape 4" descr="Imágenes integradas 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14" name="47 Rectángulo"/>
          <p:cNvSpPr>
            <a:spLocks noChangeArrowheads="1"/>
          </p:cNvSpPr>
          <p:nvPr/>
        </p:nvSpPr>
        <p:spPr bwMode="auto">
          <a:xfrm>
            <a:off x="3207167" y="1569619"/>
            <a:ext cx="346620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O" sz="1000" dirty="0" smtClean="0">
                <a:latin typeface="Trebuchet MS" pitchFamily="34" charset="0"/>
              </a:rPr>
              <a:t>1.</a:t>
            </a:r>
            <a:endParaRPr lang="es-CO" sz="1000" dirty="0">
              <a:latin typeface="Trebuchet MS" pitchFamily="34" charset="0"/>
            </a:endParaRPr>
          </a:p>
        </p:txBody>
      </p:sp>
      <p:sp>
        <p:nvSpPr>
          <p:cNvPr id="15" name="47 Rectángulo"/>
          <p:cNvSpPr>
            <a:spLocks noChangeArrowheads="1"/>
          </p:cNvSpPr>
          <p:nvPr/>
        </p:nvSpPr>
        <p:spPr bwMode="auto">
          <a:xfrm>
            <a:off x="2426024" y="4298241"/>
            <a:ext cx="346620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O" sz="1000" dirty="0">
                <a:latin typeface="Trebuchet MS" pitchFamily="34" charset="0"/>
              </a:rPr>
              <a:t>2</a:t>
            </a:r>
            <a:r>
              <a:rPr lang="es-CO" sz="1000" dirty="0" smtClean="0">
                <a:latin typeface="Trebuchet MS" pitchFamily="34" charset="0"/>
              </a:rPr>
              <a:t>.</a:t>
            </a:r>
            <a:endParaRPr lang="es-CO" sz="1000" dirty="0">
              <a:latin typeface="Trebuchet MS" pitchFamily="34" charset="0"/>
            </a:endParaRPr>
          </a:p>
        </p:txBody>
      </p:sp>
      <p:sp>
        <p:nvSpPr>
          <p:cNvPr id="16" name="47 Rectángulo"/>
          <p:cNvSpPr>
            <a:spLocks noChangeArrowheads="1"/>
          </p:cNvSpPr>
          <p:nvPr/>
        </p:nvSpPr>
        <p:spPr bwMode="auto">
          <a:xfrm>
            <a:off x="827739" y="1602366"/>
            <a:ext cx="346620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O" sz="1000" dirty="0" smtClean="0">
                <a:latin typeface="Trebuchet MS" pitchFamily="34" charset="0"/>
              </a:rPr>
              <a:t>3.</a:t>
            </a:r>
            <a:endParaRPr lang="es-CO" sz="1000" dirty="0">
              <a:latin typeface="Trebuchet MS" pitchFamily="34" charset="0"/>
            </a:endParaRPr>
          </a:p>
        </p:txBody>
      </p:sp>
      <p:sp>
        <p:nvSpPr>
          <p:cNvPr id="17" name="47 Rectángulo"/>
          <p:cNvSpPr>
            <a:spLocks noChangeArrowheads="1"/>
          </p:cNvSpPr>
          <p:nvPr/>
        </p:nvSpPr>
        <p:spPr bwMode="auto">
          <a:xfrm>
            <a:off x="3310692" y="3282807"/>
            <a:ext cx="346620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O" sz="1000" dirty="0">
                <a:latin typeface="Trebuchet MS" pitchFamily="34" charset="0"/>
              </a:rPr>
              <a:t>4</a:t>
            </a:r>
            <a:r>
              <a:rPr lang="es-CO" sz="1000" dirty="0" smtClean="0">
                <a:latin typeface="Trebuchet MS" pitchFamily="34" charset="0"/>
              </a:rPr>
              <a:t>.</a:t>
            </a:r>
            <a:endParaRPr lang="es-CO" sz="1000" dirty="0">
              <a:latin typeface="Trebuchet MS" pitchFamily="34" charset="0"/>
            </a:endParaRPr>
          </a:p>
        </p:txBody>
      </p:sp>
      <p:cxnSp>
        <p:nvCxnSpPr>
          <p:cNvPr id="4" name="Conector recto de flecha 3"/>
          <p:cNvCxnSpPr/>
          <p:nvPr/>
        </p:nvCxnSpPr>
        <p:spPr>
          <a:xfrm flipH="1" flipV="1">
            <a:off x="2852936" y="1707752"/>
            <a:ext cx="391372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/>
          <p:cNvCxnSpPr/>
          <p:nvPr/>
        </p:nvCxnSpPr>
        <p:spPr>
          <a:xfrm flipH="1">
            <a:off x="1953550" y="4432981"/>
            <a:ext cx="5377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/>
          <p:cNvCxnSpPr/>
          <p:nvPr/>
        </p:nvCxnSpPr>
        <p:spPr>
          <a:xfrm flipH="1">
            <a:off x="2846735" y="3405917"/>
            <a:ext cx="5085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/>
          <p:cNvCxnSpPr/>
          <p:nvPr/>
        </p:nvCxnSpPr>
        <p:spPr>
          <a:xfrm>
            <a:off x="1110206" y="1725477"/>
            <a:ext cx="5421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47 Rectángulo"/>
          <p:cNvSpPr>
            <a:spLocks noChangeArrowheads="1"/>
          </p:cNvSpPr>
          <p:nvPr/>
        </p:nvSpPr>
        <p:spPr bwMode="auto">
          <a:xfrm>
            <a:off x="634108" y="4419742"/>
            <a:ext cx="346620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O" sz="1000" dirty="0" smtClean="0">
                <a:latin typeface="Trebuchet MS" pitchFamily="34" charset="0"/>
              </a:rPr>
              <a:t>5.</a:t>
            </a:r>
            <a:endParaRPr lang="es-CO" sz="1000" dirty="0">
              <a:latin typeface="Trebuchet MS" pitchFamily="34" charset="0"/>
            </a:endParaRPr>
          </a:p>
        </p:txBody>
      </p:sp>
      <p:cxnSp>
        <p:nvCxnSpPr>
          <p:cNvPr id="40" name="Conector recto de flecha 39"/>
          <p:cNvCxnSpPr/>
          <p:nvPr/>
        </p:nvCxnSpPr>
        <p:spPr>
          <a:xfrm>
            <a:off x="892596" y="4567743"/>
            <a:ext cx="4445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47 Rectángulo"/>
          <p:cNvSpPr>
            <a:spLocks noChangeArrowheads="1"/>
          </p:cNvSpPr>
          <p:nvPr/>
        </p:nvSpPr>
        <p:spPr bwMode="auto">
          <a:xfrm>
            <a:off x="3255690" y="2463146"/>
            <a:ext cx="346620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O" sz="1000" dirty="0">
                <a:latin typeface="Trebuchet MS" pitchFamily="34" charset="0"/>
              </a:rPr>
              <a:t>6</a:t>
            </a:r>
            <a:r>
              <a:rPr lang="es-CO" sz="1000" dirty="0" smtClean="0">
                <a:latin typeface="Trebuchet MS" pitchFamily="34" charset="0"/>
              </a:rPr>
              <a:t>.</a:t>
            </a:r>
            <a:endParaRPr lang="es-CO" sz="1000" dirty="0">
              <a:latin typeface="Trebuchet MS" pitchFamily="34" charset="0"/>
            </a:endParaRPr>
          </a:p>
        </p:txBody>
      </p:sp>
      <p:sp>
        <p:nvSpPr>
          <p:cNvPr id="28" name="47 Rectángulo"/>
          <p:cNvSpPr>
            <a:spLocks noChangeArrowheads="1"/>
          </p:cNvSpPr>
          <p:nvPr/>
        </p:nvSpPr>
        <p:spPr bwMode="auto">
          <a:xfrm>
            <a:off x="3830646" y="2266978"/>
            <a:ext cx="346620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O" sz="1000" dirty="0" smtClean="0">
                <a:latin typeface="Trebuchet MS" pitchFamily="34" charset="0"/>
              </a:rPr>
              <a:t>7.</a:t>
            </a:r>
            <a:endParaRPr lang="es-CO" sz="1000" dirty="0">
              <a:latin typeface="Trebuchet MS" pitchFamily="34" charset="0"/>
            </a:endParaRPr>
          </a:p>
        </p:txBody>
      </p:sp>
      <p:cxnSp>
        <p:nvCxnSpPr>
          <p:cNvPr id="41" name="Conector recto de flecha 40"/>
          <p:cNvCxnSpPr/>
          <p:nvPr/>
        </p:nvCxnSpPr>
        <p:spPr>
          <a:xfrm flipH="1" flipV="1">
            <a:off x="2936511" y="2610875"/>
            <a:ext cx="391372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/>
          <p:cNvCxnSpPr/>
          <p:nvPr/>
        </p:nvCxnSpPr>
        <p:spPr>
          <a:xfrm>
            <a:off x="4117697" y="2430117"/>
            <a:ext cx="4445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47 Rectángulo"/>
          <p:cNvSpPr>
            <a:spLocks noChangeArrowheads="1"/>
          </p:cNvSpPr>
          <p:nvPr/>
        </p:nvSpPr>
        <p:spPr bwMode="auto">
          <a:xfrm>
            <a:off x="4293763" y="1403648"/>
            <a:ext cx="143949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O" sz="1000" dirty="0" smtClean="0">
                <a:latin typeface="Trebuchet MS" pitchFamily="34" charset="0"/>
              </a:rPr>
              <a:t>Módulo de crecimiento</a:t>
            </a:r>
            <a:endParaRPr lang="es-CO" sz="1000" dirty="0">
              <a:latin typeface="Trebuchet MS" pitchFamily="34" charset="0"/>
            </a:endParaRPr>
          </a:p>
        </p:txBody>
      </p:sp>
      <p:sp>
        <p:nvSpPr>
          <p:cNvPr id="44" name="47 Rectángulo"/>
          <p:cNvSpPr>
            <a:spLocks noChangeArrowheads="1"/>
          </p:cNvSpPr>
          <p:nvPr/>
        </p:nvSpPr>
        <p:spPr bwMode="auto">
          <a:xfrm>
            <a:off x="4941835" y="4253771"/>
            <a:ext cx="1439493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O" sz="1000" dirty="0" smtClean="0">
                <a:latin typeface="Trebuchet MS" pitchFamily="34" charset="0"/>
              </a:rPr>
              <a:t>Marco panel</a:t>
            </a:r>
            <a:endParaRPr lang="es-CO" sz="1000" dirty="0"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76856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17 Rectángulo redondeado"/>
          <p:cNvSpPr>
            <a:spLocks noChangeArrowheads="1"/>
          </p:cNvSpPr>
          <p:nvPr/>
        </p:nvSpPr>
        <p:spPr bwMode="auto">
          <a:xfrm>
            <a:off x="214313" y="214314"/>
            <a:ext cx="6429375" cy="591316"/>
          </a:xfrm>
          <a:prstGeom prst="roundRect">
            <a:avLst>
              <a:gd name="adj" fmla="val 7903"/>
            </a:avLst>
          </a:prstGeom>
          <a:solidFill>
            <a:schemeClr val="bg1">
              <a:lumMod val="85000"/>
            </a:schemeClr>
          </a:solidFill>
          <a:ln w="3175" algn="ctr">
            <a:noFill/>
            <a:round/>
            <a:headEnd/>
            <a:tailEnd/>
          </a:ln>
        </p:spPr>
        <p:txBody>
          <a:bodyPr anchor="ctr"/>
          <a:lstStyle/>
          <a:p>
            <a:pPr algn="r"/>
            <a:r>
              <a:rPr lang="es-MX" dirty="0" smtClean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                     Información </a:t>
            </a:r>
            <a:r>
              <a:rPr lang="es-MX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Técnica de </a:t>
            </a:r>
            <a:r>
              <a:rPr lang="es-MX" dirty="0" smtClean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Producto – </a:t>
            </a:r>
            <a:r>
              <a:rPr lang="es-MX" b="1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Múltiple</a:t>
            </a:r>
          </a:p>
        </p:txBody>
      </p:sp>
      <p:pic>
        <p:nvPicPr>
          <p:cNvPr id="13460" name="Picture 148" descr="logo Mepal"/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17748"/>
          <a:stretch/>
        </p:blipFill>
        <p:spPr bwMode="auto">
          <a:xfrm>
            <a:off x="260350" y="271959"/>
            <a:ext cx="1440458" cy="533670"/>
          </a:xfrm>
          <a:prstGeom prst="rect">
            <a:avLst/>
          </a:prstGeom>
          <a:noFill/>
        </p:spPr>
      </p:pic>
      <p:sp>
        <p:nvSpPr>
          <p:cNvPr id="13370" name="47 Rectángulo"/>
          <p:cNvSpPr>
            <a:spLocks noChangeArrowheads="1"/>
          </p:cNvSpPr>
          <p:nvPr/>
        </p:nvSpPr>
        <p:spPr bwMode="auto">
          <a:xfrm>
            <a:off x="5129213" y="8915400"/>
            <a:ext cx="1728787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MX" sz="900" dirty="0">
                <a:latin typeface="Helvetica"/>
                <a:cs typeface="Helvetica"/>
              </a:rPr>
              <a:t>F-30-042  Rev.03; 11-04-2014</a:t>
            </a:r>
            <a:endParaRPr lang="es-CO" sz="900" dirty="0">
              <a:latin typeface="Helvetica"/>
              <a:cs typeface="Helvetica"/>
            </a:endParaRPr>
          </a:p>
        </p:txBody>
      </p:sp>
      <p:sp>
        <p:nvSpPr>
          <p:cNvPr id="13462" name="AutoShape 150" descr="cid:image003.png@01CBE32D.F4A50500"/>
          <p:cNvSpPr>
            <a:spLocks noChangeAspect="1" noChangeArrowheads="1"/>
          </p:cNvSpPr>
          <p:nvPr/>
        </p:nvSpPr>
        <p:spPr bwMode="auto">
          <a:xfrm>
            <a:off x="123825" y="46038"/>
            <a:ext cx="1962150" cy="857250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  <p:sp>
        <p:nvSpPr>
          <p:cNvPr id="2" name="13 Rectángulo"/>
          <p:cNvSpPr/>
          <p:nvPr/>
        </p:nvSpPr>
        <p:spPr>
          <a:xfrm>
            <a:off x="2142333" y="976238"/>
            <a:ext cx="3067843" cy="2635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s-MX" sz="1400" b="1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Marcos Modulación por Baldosas </a:t>
            </a:r>
            <a:endParaRPr lang="es-MX" sz="1400" b="1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146" name="AutoShape 2" descr="Imágenes integradas 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6148" name="AutoShape 4" descr="Imágenes integradas 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313" y="4598227"/>
            <a:ext cx="6501427" cy="3311792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640" y="2337196"/>
            <a:ext cx="6582865" cy="2293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4907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3"/>
          <a:srcRect t="11416"/>
          <a:stretch/>
        </p:blipFill>
        <p:spPr>
          <a:xfrm>
            <a:off x="1741804" y="1594084"/>
            <a:ext cx="1392511" cy="2517780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306760" y="1887407"/>
            <a:ext cx="1548176" cy="2238131"/>
          </a:xfrm>
          <a:prstGeom prst="rect">
            <a:avLst/>
          </a:prstGeom>
        </p:spPr>
      </p:pic>
      <p:pic>
        <p:nvPicPr>
          <p:cNvPr id="19" name="Imagen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0524" y="1259632"/>
            <a:ext cx="1169168" cy="2892340"/>
          </a:xfrm>
          <a:prstGeom prst="rect">
            <a:avLst/>
          </a:prstGeom>
        </p:spPr>
      </p:pic>
      <p:sp>
        <p:nvSpPr>
          <p:cNvPr id="30" name="47 Rectángulo"/>
          <p:cNvSpPr>
            <a:spLocks noChangeArrowheads="1"/>
          </p:cNvSpPr>
          <p:nvPr/>
        </p:nvSpPr>
        <p:spPr bwMode="auto">
          <a:xfrm>
            <a:off x="3429000" y="1682205"/>
            <a:ext cx="346620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O" sz="1000" dirty="0" smtClean="0">
                <a:latin typeface="Trebuchet MS" pitchFamily="34" charset="0"/>
              </a:rPr>
              <a:t>3.</a:t>
            </a:r>
            <a:endParaRPr lang="es-CO" sz="1000" dirty="0">
              <a:latin typeface="Trebuchet MS" pitchFamily="34" charset="0"/>
            </a:endParaRPr>
          </a:p>
        </p:txBody>
      </p:sp>
      <p:sp>
        <p:nvSpPr>
          <p:cNvPr id="31" name="47 Rectángulo"/>
          <p:cNvSpPr>
            <a:spLocks noChangeArrowheads="1"/>
          </p:cNvSpPr>
          <p:nvPr/>
        </p:nvSpPr>
        <p:spPr bwMode="auto">
          <a:xfrm>
            <a:off x="2184096" y="1682205"/>
            <a:ext cx="346620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O" sz="1000" dirty="0">
                <a:latin typeface="Trebuchet MS" pitchFamily="34" charset="0"/>
              </a:rPr>
              <a:t>2</a:t>
            </a:r>
            <a:r>
              <a:rPr lang="es-CO" sz="1000" dirty="0" smtClean="0">
                <a:latin typeface="Trebuchet MS" pitchFamily="34" charset="0"/>
              </a:rPr>
              <a:t>.</a:t>
            </a:r>
            <a:endParaRPr lang="es-CO" sz="1000" dirty="0">
              <a:latin typeface="Trebuchet MS" pitchFamily="34" charset="0"/>
            </a:endParaRPr>
          </a:p>
        </p:txBody>
      </p:sp>
      <p:sp>
        <p:nvSpPr>
          <p:cNvPr id="32" name="47 Rectángulo"/>
          <p:cNvSpPr>
            <a:spLocks noChangeArrowheads="1"/>
          </p:cNvSpPr>
          <p:nvPr/>
        </p:nvSpPr>
        <p:spPr bwMode="auto">
          <a:xfrm>
            <a:off x="493472" y="1661483"/>
            <a:ext cx="346620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O" sz="1000" dirty="0" smtClean="0">
                <a:latin typeface="Trebuchet MS" pitchFamily="34" charset="0"/>
              </a:rPr>
              <a:t>1.</a:t>
            </a:r>
            <a:endParaRPr lang="es-CO" sz="1000" dirty="0">
              <a:latin typeface="Trebuchet MS" pitchFamily="34" charset="0"/>
            </a:endParaRPr>
          </a:p>
        </p:txBody>
      </p:sp>
      <p:sp>
        <p:nvSpPr>
          <p:cNvPr id="33" name="47 Rectángulo"/>
          <p:cNvSpPr>
            <a:spLocks noChangeArrowheads="1"/>
          </p:cNvSpPr>
          <p:nvPr/>
        </p:nvSpPr>
        <p:spPr bwMode="auto">
          <a:xfrm>
            <a:off x="4673904" y="1673942"/>
            <a:ext cx="346620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O" sz="1000" dirty="0">
                <a:latin typeface="Trebuchet MS" pitchFamily="34" charset="0"/>
              </a:rPr>
              <a:t>4</a:t>
            </a:r>
            <a:r>
              <a:rPr lang="es-CO" sz="1000" dirty="0" smtClean="0">
                <a:latin typeface="Trebuchet MS" pitchFamily="34" charset="0"/>
              </a:rPr>
              <a:t>.</a:t>
            </a:r>
            <a:endParaRPr lang="es-CO" sz="1000" dirty="0">
              <a:latin typeface="Trebuchet MS" pitchFamily="34" charset="0"/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6"/>
          <a:srcRect l="-208" t="11998" r="208" b="-2778"/>
          <a:stretch/>
        </p:blipFill>
        <p:spPr>
          <a:xfrm>
            <a:off x="133055" y="1832354"/>
            <a:ext cx="1388339" cy="2451557"/>
          </a:xfrm>
          <a:prstGeom prst="rect">
            <a:avLst/>
          </a:prstGeom>
        </p:spPr>
      </p:pic>
      <p:sp>
        <p:nvSpPr>
          <p:cNvPr id="18" name="17 Rectángulo redondeado"/>
          <p:cNvSpPr>
            <a:spLocks noChangeArrowheads="1"/>
          </p:cNvSpPr>
          <p:nvPr/>
        </p:nvSpPr>
        <p:spPr bwMode="auto">
          <a:xfrm>
            <a:off x="214313" y="214314"/>
            <a:ext cx="6429375" cy="591316"/>
          </a:xfrm>
          <a:prstGeom prst="roundRect">
            <a:avLst>
              <a:gd name="adj" fmla="val 7903"/>
            </a:avLst>
          </a:prstGeom>
          <a:solidFill>
            <a:schemeClr val="bg1">
              <a:lumMod val="85000"/>
            </a:schemeClr>
          </a:solidFill>
          <a:ln w="3175" algn="ctr">
            <a:noFill/>
            <a:round/>
            <a:headEnd/>
            <a:tailEnd/>
          </a:ln>
        </p:spPr>
        <p:txBody>
          <a:bodyPr anchor="ctr"/>
          <a:lstStyle/>
          <a:p>
            <a:pPr algn="r"/>
            <a:r>
              <a:rPr lang="es-MX" dirty="0" smtClean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                     Información </a:t>
            </a:r>
            <a:r>
              <a:rPr lang="es-MX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Técnica de </a:t>
            </a:r>
            <a:r>
              <a:rPr lang="es-MX" dirty="0" smtClean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Producto – </a:t>
            </a:r>
            <a:r>
              <a:rPr lang="es-MX" b="1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Múltiple</a:t>
            </a:r>
          </a:p>
        </p:txBody>
      </p:sp>
      <p:pic>
        <p:nvPicPr>
          <p:cNvPr id="13460" name="Picture 148" descr="logo Mepal"/>
          <p:cNvPicPr>
            <a:picLocks noChangeAspect="1" noChangeArrowheads="1"/>
          </p:cNvPicPr>
          <p:nvPr/>
        </p:nvPicPr>
        <p:blipFill rotWithShape="1"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17748"/>
          <a:stretch/>
        </p:blipFill>
        <p:spPr bwMode="auto">
          <a:xfrm>
            <a:off x="260350" y="271959"/>
            <a:ext cx="1440458" cy="533670"/>
          </a:xfrm>
          <a:prstGeom prst="rect">
            <a:avLst/>
          </a:prstGeom>
          <a:noFill/>
        </p:spPr>
      </p:pic>
      <p:graphicFrame>
        <p:nvGraphicFramePr>
          <p:cNvPr id="13458" name="Group 1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443584"/>
              </p:ext>
            </p:extLst>
          </p:nvPr>
        </p:nvGraphicFramePr>
        <p:xfrm>
          <a:off x="285729" y="4211960"/>
          <a:ext cx="6286543" cy="4724400"/>
        </p:xfrm>
        <a:graphic>
          <a:graphicData uri="http://schemas.openxmlformats.org/drawingml/2006/table">
            <a:tbl>
              <a:tblPr/>
              <a:tblGrid>
                <a:gridCol w="1703111"/>
                <a:gridCol w="2952328"/>
                <a:gridCol w="1631104"/>
              </a:tblGrid>
              <a:tr h="123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rebuchet MS" pitchFamily="34" charset="0"/>
                        </a:rPr>
                        <a:t>Elemento</a:t>
                      </a:r>
                      <a:endParaRPr kumimoji="0" lang="es-CO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rebuchet MS" pitchFamily="34" charset="0"/>
                        </a:rPr>
                        <a:t>Material</a:t>
                      </a:r>
                      <a:endParaRPr kumimoji="0" lang="es-CO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rebuchet MS" pitchFamily="34" charset="0"/>
                        </a:rPr>
                        <a:t>Acabado</a:t>
                      </a:r>
                      <a:endParaRPr kumimoji="0" lang="es-CO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</a:tr>
              <a:tr h="122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1. Marcos puerta media altura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Alturas: 90/166/204cm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Frentes: 60/75/90cm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Espesor Final: 8cm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lang="es-CO" sz="1000" dirty="0" smtClean="0">
                          <a:latin typeface="Segoe UI Light" pitchFamily="34" charset="0"/>
                        </a:rPr>
                        <a:t>Perfil de amarre</a:t>
                      </a:r>
                      <a:r>
                        <a:rPr lang="es-CO" sz="1000" baseline="0" dirty="0" smtClean="0">
                          <a:latin typeface="Segoe UI Light" pitchFamily="34" charset="0"/>
                        </a:rPr>
                        <a:t> (base) extruido en aluminio (perfil LEH-565).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lang="es-CO" sz="1000" baseline="0" dirty="0" err="1" smtClean="0">
                          <a:latin typeface="Segoe UI Light" pitchFamily="34" charset="0"/>
                        </a:rPr>
                        <a:t>Paral</a:t>
                      </a:r>
                      <a:r>
                        <a:rPr lang="es-CO" sz="1000" baseline="0" dirty="0" smtClean="0">
                          <a:latin typeface="Segoe UI Light" pitchFamily="34" charset="0"/>
                        </a:rPr>
                        <a:t> de bisagras y recibidor extruido en aluminio (Perfil OFI-004). Tapa superior inyectada en plástico ABS. Bisel superior en aluminio (perfil OFI-002). Soporte bisel superior en lámina de acero </a:t>
                      </a:r>
                      <a:r>
                        <a:rPr lang="es-CO" sz="1000" baseline="0" dirty="0" err="1" smtClean="0">
                          <a:latin typeface="Segoe UI Light" pitchFamily="34" charset="0"/>
                        </a:rPr>
                        <a:t>cold-rolled</a:t>
                      </a:r>
                      <a:r>
                        <a:rPr lang="es-CO" sz="1000" baseline="0" dirty="0" smtClean="0">
                          <a:latin typeface="Segoe UI Light" pitchFamily="34" charset="0"/>
                        </a:rPr>
                        <a:t> calibre 14. Escuadra de fijación en lámina calibre 18.</a:t>
                      </a:r>
                      <a:endParaRPr lang="es-ES" sz="1000" baseline="0" dirty="0" smtClean="0">
                        <a:latin typeface="Segoe UI Light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Pintura </a:t>
                      </a:r>
                      <a:r>
                        <a:rPr lang="es-ES" sz="1000" kern="120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horneable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de aplicación electrostática.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581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2. Marcos puerta piso techo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Alturas: 242/280m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Frentes: 90cm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Espesor Final: 8cm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lang="es-CO" sz="1000" kern="120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Paral</a:t>
                      </a:r>
                      <a:r>
                        <a:rPr lang="es-CO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montante </a:t>
                      </a:r>
                      <a:r>
                        <a:rPr lang="es-CO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en lámina de acero </a:t>
                      </a:r>
                      <a:r>
                        <a:rPr lang="es-CO" sz="1000" kern="1200" baseline="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cold-rolled</a:t>
                      </a:r>
                      <a:r>
                        <a:rPr lang="es-CO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calibre 18. Parales y travesaño en aluminio extruido (perfil OFI-004). Recibidores para bisagras y cerraduras en aluminio extruido (perfil OFI-015). Escuadra de fijación en acero </a:t>
                      </a:r>
                      <a:r>
                        <a:rPr lang="es-CO" sz="1000" kern="1200" baseline="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cold-rolled</a:t>
                      </a:r>
                      <a:r>
                        <a:rPr lang="es-CO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calibre 18. Acople interruptor en lámina de acero calibre 12.</a:t>
                      </a:r>
                      <a:endParaRPr lang="es-ES" sz="1000" kern="1200" dirty="0" smtClean="0">
                        <a:solidFill>
                          <a:schemeClr val="tx1"/>
                        </a:solidFill>
                        <a:latin typeface="Segoe UI Light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Pintura </a:t>
                      </a:r>
                      <a:r>
                        <a:rPr lang="es-ES" sz="1000" kern="120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horneable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de aplicación electrostática.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23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3. Puertas media altura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Alturas: 90/166/204cm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Frentes: 60/75/90cm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Espesor Final: 8cm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lang="es-CO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Cerradura de pomo </a:t>
                      </a:r>
                      <a:r>
                        <a:rPr lang="es-CO" sz="1000" kern="120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Orbit</a:t>
                      </a:r>
                      <a:r>
                        <a:rPr lang="es-CO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. Bisagra omega. Perfil de caucho transparente para recibir vidrio. Vidrio crudo 4mm. Bisel superior en acero CR calibre 20. Laterales y travesaño en tubo de acero cuadrado 20x40mm calibre 20. Travesaño chapa en lámina de acero CR calibre 20.</a:t>
                      </a:r>
                      <a:endParaRPr lang="es-ES" sz="1000" kern="1200" dirty="0" smtClean="0">
                        <a:solidFill>
                          <a:schemeClr val="tx1"/>
                        </a:solidFill>
                        <a:latin typeface="Segoe UI Light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Pintura </a:t>
                      </a:r>
                      <a:r>
                        <a:rPr lang="es-ES" sz="1000" kern="120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horneable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de aplicación electrostática.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Vidrio: transparente, bronce</a:t>
                      </a: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/ 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película</a:t>
                      </a: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000" kern="1200" baseline="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sandblasting</a:t>
                      </a: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/ acanalado.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Chapa cromo </a:t>
                      </a:r>
                      <a:r>
                        <a:rPr lang="es-ES" sz="1000" kern="1200" baseline="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matte</a:t>
                      </a: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.</a:t>
                      </a:r>
                      <a:endParaRPr lang="es-ES" sz="1000" kern="1200" dirty="0" smtClean="0">
                        <a:solidFill>
                          <a:schemeClr val="tx1"/>
                        </a:solidFill>
                        <a:latin typeface="Segoe UI Light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23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4. Puertas piso techo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Alturas: 242/280m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Frentes: 90cm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Espesor Final: 8cm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lang="es-CO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Cerradura de pomo </a:t>
                      </a:r>
                      <a:r>
                        <a:rPr lang="es-CO" sz="1000" kern="120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Orbit</a:t>
                      </a:r>
                      <a:r>
                        <a:rPr lang="es-CO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. Bisagra omega. Perfil de caucho transparente para recibir vidrio. Vidrio crudo 4mm. Bisel superior en acero CR calibre 20. Laterales y travesaño en tubo de acero cuadrado 20x40mm calibre 20. Travesaño chapa en lámina de acero CR calibre 20.</a:t>
                      </a:r>
                      <a:endParaRPr lang="es-ES" sz="1000" kern="1200" dirty="0" smtClean="0">
                        <a:solidFill>
                          <a:schemeClr val="tx1"/>
                        </a:solidFill>
                        <a:latin typeface="Segoe UI Light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Pintura </a:t>
                      </a:r>
                      <a:r>
                        <a:rPr lang="es-ES" sz="1000" kern="120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horneable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de aplicación electrostática.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Vidrio: transparente, bronce</a:t>
                      </a: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/ 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película</a:t>
                      </a: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000" kern="1200" baseline="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sandblasting</a:t>
                      </a: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/ acanalado.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Chapa cromo </a:t>
                      </a:r>
                      <a:r>
                        <a:rPr lang="es-ES" sz="1000" kern="1200" baseline="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matte</a:t>
                      </a: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.</a:t>
                      </a:r>
                      <a:endParaRPr lang="es-ES" sz="1000" kern="1200" dirty="0" smtClean="0">
                        <a:solidFill>
                          <a:schemeClr val="tx1"/>
                        </a:solidFill>
                        <a:latin typeface="Segoe UI Light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370" name="47 Rectángulo"/>
          <p:cNvSpPr>
            <a:spLocks noChangeArrowheads="1"/>
          </p:cNvSpPr>
          <p:nvPr/>
        </p:nvSpPr>
        <p:spPr bwMode="auto">
          <a:xfrm>
            <a:off x="5129213" y="8915400"/>
            <a:ext cx="172878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MX" sz="900" dirty="0">
                <a:latin typeface="Helvetica"/>
                <a:cs typeface="Helvetica"/>
              </a:rPr>
              <a:t>F-30-042  Rev.03; 11-04-2014</a:t>
            </a:r>
            <a:endParaRPr lang="es-CO" sz="900" dirty="0">
              <a:latin typeface="Helvetica"/>
              <a:cs typeface="Helvetica"/>
            </a:endParaRPr>
          </a:p>
          <a:p>
            <a:pPr algn="ctr"/>
            <a:endParaRPr lang="es-CO" sz="900" dirty="0">
              <a:latin typeface="Calibri" pitchFamily="34" charset="0"/>
            </a:endParaRPr>
          </a:p>
        </p:txBody>
      </p:sp>
      <p:sp>
        <p:nvSpPr>
          <p:cNvPr id="13462" name="AutoShape 150" descr="cid:image003.png@01CBE32D.F4A50500"/>
          <p:cNvSpPr>
            <a:spLocks noChangeAspect="1" noChangeArrowheads="1"/>
          </p:cNvSpPr>
          <p:nvPr/>
        </p:nvSpPr>
        <p:spPr bwMode="auto">
          <a:xfrm>
            <a:off x="123825" y="46038"/>
            <a:ext cx="1962150" cy="857250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  <p:sp>
        <p:nvSpPr>
          <p:cNvPr id="2" name="13 Rectángulo"/>
          <p:cNvSpPr/>
          <p:nvPr/>
        </p:nvSpPr>
        <p:spPr>
          <a:xfrm>
            <a:off x="4926083" y="996107"/>
            <a:ext cx="2074816" cy="2635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s-MX" sz="1400" b="1" dirty="0" err="1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Marcopuertas</a:t>
            </a:r>
            <a:r>
              <a:rPr lang="es-MX" sz="1400" b="1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y puertas </a:t>
            </a:r>
            <a:endParaRPr lang="es-MX" sz="1400" b="1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146" name="AutoShape 2" descr="Imágenes integradas 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6148" name="AutoShape 4" descr="Imágenes integradas 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89687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17 Rectángulo redondeado"/>
          <p:cNvSpPr>
            <a:spLocks noChangeArrowheads="1"/>
          </p:cNvSpPr>
          <p:nvPr/>
        </p:nvSpPr>
        <p:spPr bwMode="auto">
          <a:xfrm>
            <a:off x="214313" y="214314"/>
            <a:ext cx="6429375" cy="591316"/>
          </a:xfrm>
          <a:prstGeom prst="roundRect">
            <a:avLst>
              <a:gd name="adj" fmla="val 7903"/>
            </a:avLst>
          </a:prstGeom>
          <a:solidFill>
            <a:schemeClr val="bg1">
              <a:lumMod val="85000"/>
            </a:schemeClr>
          </a:solidFill>
          <a:ln w="3175" algn="ctr">
            <a:noFill/>
            <a:round/>
            <a:headEnd/>
            <a:tailEnd/>
          </a:ln>
        </p:spPr>
        <p:txBody>
          <a:bodyPr anchor="ctr"/>
          <a:lstStyle/>
          <a:p>
            <a:pPr algn="r"/>
            <a:r>
              <a:rPr lang="es-MX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Información Técnica de Producto – </a:t>
            </a:r>
            <a:r>
              <a:rPr lang="es-MX" b="1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Múltiple</a:t>
            </a:r>
          </a:p>
        </p:txBody>
      </p:sp>
      <p:pic>
        <p:nvPicPr>
          <p:cNvPr id="13460" name="Picture 148" descr="logo Mepal"/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17748"/>
          <a:stretch/>
        </p:blipFill>
        <p:spPr bwMode="auto">
          <a:xfrm>
            <a:off x="260350" y="271959"/>
            <a:ext cx="1440458" cy="533670"/>
          </a:xfrm>
          <a:prstGeom prst="rect">
            <a:avLst/>
          </a:prstGeom>
          <a:noFill/>
        </p:spPr>
      </p:pic>
      <p:sp>
        <p:nvSpPr>
          <p:cNvPr id="13336" name="47 Rectángulo"/>
          <p:cNvSpPr>
            <a:spLocks noChangeArrowheads="1"/>
          </p:cNvSpPr>
          <p:nvPr/>
        </p:nvSpPr>
        <p:spPr bwMode="auto">
          <a:xfrm>
            <a:off x="142852" y="8572528"/>
            <a:ext cx="6858023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MX" sz="1000" dirty="0">
                <a:latin typeface="Trebuchet MS" pitchFamily="34" charset="0"/>
              </a:rPr>
              <a:t>Nota</a:t>
            </a:r>
            <a:r>
              <a:rPr lang="es-MX" sz="1000" dirty="0" smtClean="0">
                <a:latin typeface="Trebuchet MS" pitchFamily="34" charset="0"/>
              </a:rPr>
              <a:t>: El espesor final de baldosas desde el marco es 15mm</a:t>
            </a:r>
            <a:endParaRPr lang="es-CO" sz="1000" dirty="0">
              <a:latin typeface="Trebuchet MS" pitchFamily="34" charset="0"/>
            </a:endParaRPr>
          </a:p>
        </p:txBody>
      </p:sp>
      <p:graphicFrame>
        <p:nvGraphicFramePr>
          <p:cNvPr id="13458" name="Group 1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46997"/>
              </p:ext>
            </p:extLst>
          </p:nvPr>
        </p:nvGraphicFramePr>
        <p:xfrm>
          <a:off x="285729" y="3489880"/>
          <a:ext cx="6286543" cy="4206240"/>
        </p:xfrm>
        <a:graphic>
          <a:graphicData uri="http://schemas.openxmlformats.org/drawingml/2006/table">
            <a:tbl>
              <a:tblPr/>
              <a:tblGrid>
                <a:gridCol w="1775119"/>
                <a:gridCol w="2808312"/>
                <a:gridCol w="1703112"/>
              </a:tblGrid>
              <a:tr h="123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rebuchet MS" pitchFamily="34" charset="0"/>
                        </a:rPr>
                        <a:t>Elemento</a:t>
                      </a:r>
                      <a:endParaRPr kumimoji="0" lang="es-CO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rebuchet MS" pitchFamily="34" charset="0"/>
                        </a:rPr>
                        <a:t>Material</a:t>
                      </a:r>
                      <a:endParaRPr kumimoji="0" lang="es-CO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rebuchet MS" pitchFamily="34" charset="0"/>
                        </a:rPr>
                        <a:t>Acabado</a:t>
                      </a:r>
                      <a:endParaRPr kumimoji="0" lang="es-CO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</a:tr>
              <a:tr h="122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1. Baldosa fórmica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Altura: 16/20/22/38/76cm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Frente: 30/45/60/75/90/120cm</a:t>
                      </a:r>
                      <a:endParaRPr kumimoji="0" lang="es-ES" sz="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lang="es-ES" sz="1000" baseline="0" dirty="0" smtClean="0">
                          <a:latin typeface="Segoe UI Light" pitchFamily="34" charset="0"/>
                        </a:rPr>
                        <a:t>Aglomerado MDP crudo 15mm con laminado de alta presión. Canto PVC 2mm. Unión por medio de pines de Nylon.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Colores</a:t>
                      </a: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laminado de línea.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Fórmicas y cantos de</a:t>
                      </a: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línea.</a:t>
                      </a:r>
                      <a:endParaRPr lang="es-ES" sz="1000" kern="1200" dirty="0" smtClean="0">
                        <a:solidFill>
                          <a:schemeClr val="tx1"/>
                        </a:solidFill>
                        <a:latin typeface="Segoe UI Light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4085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2. Baldosa lámina lisa/perforada/repujada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Altura: 16/20/22/38/76cm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Frente: 30/45/60/75/90/120cm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Lámina de acero </a:t>
                      </a:r>
                      <a:r>
                        <a:rPr lang="es-ES" sz="1000" kern="120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cold</a:t>
                      </a:r>
                      <a:r>
                        <a:rPr lang="es-ES" sz="1000" kern="1200" baseline="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-rolled</a:t>
                      </a: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calibre 20. </a:t>
                      </a:r>
                      <a:r>
                        <a:rPr lang="es-ES" sz="1000" baseline="0" dirty="0" smtClean="0">
                          <a:latin typeface="Segoe UI Light" pitchFamily="34" charset="0"/>
                        </a:rPr>
                        <a:t>Unión por medio de pines de Nylon. Espesor final de baldosa 15mm.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lang="es-ES" sz="1000" kern="1200" dirty="0" smtClean="0">
                        <a:solidFill>
                          <a:schemeClr val="tx1"/>
                        </a:solidFill>
                        <a:latin typeface="Segoe UI Light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Colores</a:t>
                      </a: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p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intura </a:t>
                      </a:r>
                      <a:r>
                        <a:rPr lang="es-ES" sz="1000" kern="120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horneable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de aplicación electrostática.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23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3. Baldosa vidrio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Altura: 38cm/76cm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Frente: 30/45/60/75/90/120cm 150cm solo para altura 38cm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Lámina de acero </a:t>
                      </a:r>
                      <a:r>
                        <a:rPr lang="es-ES" sz="1000" kern="120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cold</a:t>
                      </a:r>
                      <a:r>
                        <a:rPr lang="es-ES" sz="1000" kern="1200" baseline="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-rolled</a:t>
                      </a: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calibre 20. Vidrio crudo de 4mm o templado de 5mm. </a:t>
                      </a:r>
                      <a:r>
                        <a:rPr lang="es-ES" sz="1000" baseline="0" dirty="0" smtClean="0">
                          <a:latin typeface="Segoe UI Light" pitchFamily="34" charset="0"/>
                        </a:rPr>
                        <a:t>Unión por medio de pines de Nylon. Opcional: película 3M de color.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Colores</a:t>
                      </a: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p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intura </a:t>
                      </a:r>
                      <a:r>
                        <a:rPr lang="es-ES" sz="1000" kern="120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horneable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de aplicación electrostática.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Vidrio transparente. Colores</a:t>
                      </a: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película 3M disponibles.</a:t>
                      </a:r>
                      <a:endParaRPr lang="es-ES" sz="1000" kern="1200" dirty="0" smtClean="0">
                        <a:solidFill>
                          <a:schemeClr val="tx1"/>
                        </a:solidFill>
                        <a:latin typeface="Segoe UI Light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23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4. Baldosa </a:t>
                      </a:r>
                      <a:r>
                        <a:rPr kumimoji="0" lang="es-E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pasadocumentos</a:t>
                      </a:r>
                      <a:r>
                        <a:rPr kumimoji="0" lang="es-E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 /</a:t>
                      </a:r>
                      <a:r>
                        <a:rPr kumimoji="0" lang="es-E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pasavoz</a:t>
                      </a:r>
                      <a:endParaRPr kumimoji="0" lang="es-E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rebuchet MS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Altura: 38cm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Frente: 114.5 /144.5/174.5</a:t>
                      </a:r>
                      <a:endParaRPr kumimoji="0" lang="es-ES" sz="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Lámina de acero </a:t>
                      </a:r>
                      <a:r>
                        <a:rPr lang="es-ES" sz="1000" kern="120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cold</a:t>
                      </a:r>
                      <a:r>
                        <a:rPr lang="es-ES" sz="1000" kern="1200" baseline="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-rolled</a:t>
                      </a: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calibre 20. Vidrio crudo de 4mm o templado de 5mm. </a:t>
                      </a:r>
                      <a:r>
                        <a:rPr lang="es-ES" sz="1000" baseline="0" dirty="0" smtClean="0">
                          <a:latin typeface="Segoe UI Light" pitchFamily="34" charset="0"/>
                        </a:rPr>
                        <a:t>Unión por medio de pines de Nylon.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Colores</a:t>
                      </a: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p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intura </a:t>
                      </a:r>
                      <a:r>
                        <a:rPr lang="es-ES" sz="1000" kern="120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horneable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de aplicación electrostática.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Vidrio transparente.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23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5. Baldosa un vidrio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Frente: 30/45/60/75/90/120cm 150cm solo para altura 38cm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Marco</a:t>
                      </a: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fabricado en perfiles de aluminio. Vidrio crudo de 4mm o templado de 5mm. </a:t>
                      </a:r>
                      <a:r>
                        <a:rPr lang="es-ES" sz="1000" baseline="0" dirty="0" smtClean="0">
                          <a:latin typeface="Segoe UI Light" pitchFamily="34" charset="0"/>
                        </a:rPr>
                        <a:t>Unión por medio de pines de Nylon. Opcional: película 3M de color.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Colores</a:t>
                      </a: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p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intura </a:t>
                      </a:r>
                      <a:r>
                        <a:rPr lang="es-ES" sz="1000" kern="120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horneable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de aplicación electrostática.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Vidrio transparente. Colores</a:t>
                      </a: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película 3M disponibles.</a:t>
                      </a:r>
                      <a:endParaRPr lang="es-ES" sz="1000" kern="1200" dirty="0" smtClean="0">
                        <a:solidFill>
                          <a:schemeClr val="tx1"/>
                        </a:solidFill>
                        <a:latin typeface="Segoe UI Light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370" name="47 Rectángulo"/>
          <p:cNvSpPr>
            <a:spLocks noChangeArrowheads="1"/>
          </p:cNvSpPr>
          <p:nvPr/>
        </p:nvSpPr>
        <p:spPr bwMode="auto">
          <a:xfrm>
            <a:off x="5129213" y="8915400"/>
            <a:ext cx="1728787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MX" sz="900" dirty="0">
                <a:latin typeface="Helvetica"/>
                <a:cs typeface="Helvetica"/>
              </a:rPr>
              <a:t>F-30-042  Rev.03; 11-04-2014</a:t>
            </a:r>
            <a:endParaRPr lang="es-CO" sz="900" dirty="0">
              <a:latin typeface="Helvetica"/>
              <a:cs typeface="Helvetica"/>
            </a:endParaRPr>
          </a:p>
        </p:txBody>
      </p:sp>
      <p:sp>
        <p:nvSpPr>
          <p:cNvPr id="13462" name="AutoShape 150" descr="cid:image003.png@01CBE32D.F4A50500"/>
          <p:cNvSpPr>
            <a:spLocks noChangeAspect="1" noChangeArrowheads="1"/>
          </p:cNvSpPr>
          <p:nvPr/>
        </p:nvSpPr>
        <p:spPr bwMode="auto">
          <a:xfrm>
            <a:off x="123825" y="46038"/>
            <a:ext cx="1962150" cy="857250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  <p:sp>
        <p:nvSpPr>
          <p:cNvPr id="13464" name="AutoShape 152" descr="cid:image003.png@01CBE32D.F4A50500"/>
          <p:cNvSpPr>
            <a:spLocks noChangeAspect="1" noChangeArrowheads="1"/>
          </p:cNvSpPr>
          <p:nvPr/>
        </p:nvSpPr>
        <p:spPr bwMode="auto">
          <a:xfrm>
            <a:off x="2214554" y="4214810"/>
            <a:ext cx="1962150" cy="857250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  <p:sp>
        <p:nvSpPr>
          <p:cNvPr id="2" name="13 Rectángulo"/>
          <p:cNvSpPr/>
          <p:nvPr/>
        </p:nvSpPr>
        <p:spPr>
          <a:xfrm>
            <a:off x="4926083" y="996107"/>
            <a:ext cx="1717605" cy="2635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s-MX" sz="1400" b="1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Baldosas</a:t>
            </a:r>
            <a:endParaRPr lang="es-MX" sz="1400" b="1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146" name="AutoShape 2" descr="Imágenes integradas 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6148" name="AutoShape 4" descr="Imágenes integradas 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16" name="Picture 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035" y="1073381"/>
            <a:ext cx="1271970" cy="7541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" y="2301948"/>
            <a:ext cx="1303514" cy="825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8633" y="1024262"/>
            <a:ext cx="1345116" cy="1033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2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4516" y="1553789"/>
            <a:ext cx="1421384" cy="1338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2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8633" y="2087374"/>
            <a:ext cx="1435252" cy="124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2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730" y="1093602"/>
            <a:ext cx="1469920" cy="1102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28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2301948"/>
            <a:ext cx="1317380" cy="92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47 Rectángulo"/>
          <p:cNvSpPr>
            <a:spLocks noChangeArrowheads="1"/>
          </p:cNvSpPr>
          <p:nvPr/>
        </p:nvSpPr>
        <p:spPr bwMode="auto">
          <a:xfrm>
            <a:off x="240151" y="1093602"/>
            <a:ext cx="346620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O" sz="1000" dirty="0" smtClean="0">
                <a:latin typeface="Trebuchet MS" pitchFamily="34" charset="0"/>
              </a:rPr>
              <a:t>1.</a:t>
            </a:r>
            <a:endParaRPr lang="es-CO" sz="1000" dirty="0">
              <a:latin typeface="Trebuchet MS" pitchFamily="34" charset="0"/>
            </a:endParaRPr>
          </a:p>
        </p:txBody>
      </p:sp>
      <p:sp>
        <p:nvSpPr>
          <p:cNvPr id="25" name="47 Rectángulo"/>
          <p:cNvSpPr>
            <a:spLocks noChangeArrowheads="1"/>
          </p:cNvSpPr>
          <p:nvPr/>
        </p:nvSpPr>
        <p:spPr bwMode="auto">
          <a:xfrm>
            <a:off x="1129213" y="1833270"/>
            <a:ext cx="346620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O" sz="1000" dirty="0">
                <a:latin typeface="Trebuchet MS" pitchFamily="34" charset="0"/>
              </a:rPr>
              <a:t>2</a:t>
            </a:r>
            <a:r>
              <a:rPr lang="es-CO" sz="1000" dirty="0" smtClean="0">
                <a:latin typeface="Trebuchet MS" pitchFamily="34" charset="0"/>
              </a:rPr>
              <a:t>.</a:t>
            </a:r>
            <a:endParaRPr lang="es-CO" sz="1000" dirty="0">
              <a:latin typeface="Trebuchet MS" pitchFamily="34" charset="0"/>
            </a:endParaRPr>
          </a:p>
        </p:txBody>
      </p:sp>
      <p:cxnSp>
        <p:nvCxnSpPr>
          <p:cNvPr id="26" name="Conector angular 25"/>
          <p:cNvCxnSpPr>
            <a:stCxn id="25" idx="1"/>
          </p:cNvCxnSpPr>
          <p:nvPr/>
        </p:nvCxnSpPr>
        <p:spPr>
          <a:xfrm rot="10800000" flipV="1">
            <a:off x="692697" y="1956380"/>
            <a:ext cx="436517" cy="5273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angular 26"/>
          <p:cNvCxnSpPr>
            <a:stCxn id="25" idx="3"/>
            <a:endCxn id="19" idx="1"/>
          </p:cNvCxnSpPr>
          <p:nvPr/>
        </p:nvCxnSpPr>
        <p:spPr>
          <a:xfrm flipV="1">
            <a:off x="1475833" y="1540814"/>
            <a:ext cx="292800" cy="41556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47 Rectángulo"/>
          <p:cNvSpPr>
            <a:spLocks noChangeArrowheads="1"/>
          </p:cNvSpPr>
          <p:nvPr/>
        </p:nvSpPr>
        <p:spPr bwMode="auto">
          <a:xfrm>
            <a:off x="1527498" y="3003933"/>
            <a:ext cx="346620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O" sz="1000" dirty="0" smtClean="0">
                <a:latin typeface="Trebuchet MS" pitchFamily="34" charset="0"/>
              </a:rPr>
              <a:t>3.</a:t>
            </a:r>
            <a:endParaRPr lang="es-CO" sz="1000" dirty="0">
              <a:latin typeface="Trebuchet MS" pitchFamily="34" charset="0"/>
            </a:endParaRPr>
          </a:p>
        </p:txBody>
      </p:sp>
      <p:sp>
        <p:nvSpPr>
          <p:cNvPr id="29" name="47 Rectángulo"/>
          <p:cNvSpPr>
            <a:spLocks noChangeArrowheads="1"/>
          </p:cNvSpPr>
          <p:nvPr/>
        </p:nvSpPr>
        <p:spPr bwMode="auto">
          <a:xfrm>
            <a:off x="3997728" y="2027198"/>
            <a:ext cx="346620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O" sz="1000" dirty="0">
                <a:latin typeface="Trebuchet MS" pitchFamily="34" charset="0"/>
              </a:rPr>
              <a:t>4</a:t>
            </a:r>
            <a:r>
              <a:rPr lang="es-CO" sz="1000" dirty="0" smtClean="0">
                <a:latin typeface="Trebuchet MS" pitchFamily="34" charset="0"/>
              </a:rPr>
              <a:t>.</a:t>
            </a:r>
            <a:endParaRPr lang="es-CO" sz="1000" dirty="0">
              <a:latin typeface="Trebuchet MS" pitchFamily="34" charset="0"/>
            </a:endParaRPr>
          </a:p>
        </p:txBody>
      </p:sp>
      <p:cxnSp>
        <p:nvCxnSpPr>
          <p:cNvPr id="30" name="Conector angular 29"/>
          <p:cNvCxnSpPr/>
          <p:nvPr/>
        </p:nvCxnSpPr>
        <p:spPr>
          <a:xfrm rot="10800000">
            <a:off x="3645530" y="2087375"/>
            <a:ext cx="317272" cy="104387"/>
          </a:xfrm>
          <a:prstGeom prst="bentConnector3">
            <a:avLst>
              <a:gd name="adj1" fmla="val 10026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angular 34"/>
          <p:cNvCxnSpPr>
            <a:stCxn id="23" idx="2"/>
          </p:cNvCxnSpPr>
          <p:nvPr/>
        </p:nvCxnSpPr>
        <p:spPr>
          <a:xfrm rot="5400000">
            <a:off x="3882941" y="2275903"/>
            <a:ext cx="284610" cy="12488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47 Rectángulo"/>
          <p:cNvSpPr>
            <a:spLocks noChangeArrowheads="1"/>
          </p:cNvSpPr>
          <p:nvPr/>
        </p:nvSpPr>
        <p:spPr bwMode="auto">
          <a:xfrm>
            <a:off x="5646986" y="2584819"/>
            <a:ext cx="346620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O" sz="1000" dirty="0">
                <a:latin typeface="Trebuchet MS" pitchFamily="34" charset="0"/>
              </a:rPr>
              <a:t>5</a:t>
            </a:r>
            <a:r>
              <a:rPr lang="es-CO" sz="1000" dirty="0" smtClean="0">
                <a:latin typeface="Trebuchet MS" pitchFamily="34" charset="0"/>
              </a:rPr>
              <a:t>.</a:t>
            </a:r>
            <a:endParaRPr lang="es-CO" sz="1000" dirty="0"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98143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17 Rectángulo redondeado"/>
          <p:cNvSpPr>
            <a:spLocks noChangeArrowheads="1"/>
          </p:cNvSpPr>
          <p:nvPr/>
        </p:nvSpPr>
        <p:spPr bwMode="auto">
          <a:xfrm>
            <a:off x="214313" y="214314"/>
            <a:ext cx="6429375" cy="591316"/>
          </a:xfrm>
          <a:prstGeom prst="roundRect">
            <a:avLst>
              <a:gd name="adj" fmla="val 7903"/>
            </a:avLst>
          </a:prstGeom>
          <a:solidFill>
            <a:schemeClr val="bg1">
              <a:lumMod val="85000"/>
            </a:schemeClr>
          </a:solidFill>
          <a:ln w="3175" algn="ctr">
            <a:noFill/>
            <a:round/>
            <a:headEnd/>
            <a:tailEnd/>
          </a:ln>
        </p:spPr>
        <p:txBody>
          <a:bodyPr anchor="ctr"/>
          <a:lstStyle/>
          <a:p>
            <a:pPr algn="r"/>
            <a:r>
              <a:rPr lang="es-MX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Información Técnica de Producto – </a:t>
            </a:r>
            <a:r>
              <a:rPr lang="es-MX" b="1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Múltiple</a:t>
            </a:r>
          </a:p>
        </p:txBody>
      </p:sp>
      <p:pic>
        <p:nvPicPr>
          <p:cNvPr id="13460" name="Picture 148" descr="logo Mepal"/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17748"/>
          <a:stretch/>
        </p:blipFill>
        <p:spPr bwMode="auto">
          <a:xfrm>
            <a:off x="260350" y="271959"/>
            <a:ext cx="1440458" cy="533670"/>
          </a:xfrm>
          <a:prstGeom prst="rect">
            <a:avLst/>
          </a:prstGeom>
          <a:noFill/>
        </p:spPr>
      </p:pic>
      <p:sp>
        <p:nvSpPr>
          <p:cNvPr id="13336" name="47 Rectángulo"/>
          <p:cNvSpPr>
            <a:spLocks noChangeArrowheads="1"/>
          </p:cNvSpPr>
          <p:nvPr/>
        </p:nvSpPr>
        <p:spPr bwMode="auto">
          <a:xfrm>
            <a:off x="142852" y="8572528"/>
            <a:ext cx="6858023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MX" sz="1000" dirty="0">
                <a:latin typeface="Trebuchet MS" pitchFamily="34" charset="0"/>
              </a:rPr>
              <a:t>Nota: El espesor final de baldosas desde el marco es </a:t>
            </a:r>
            <a:r>
              <a:rPr lang="es-MX" sz="1000" dirty="0" smtClean="0">
                <a:latin typeface="Trebuchet MS" pitchFamily="34" charset="0"/>
              </a:rPr>
              <a:t>15mm </a:t>
            </a:r>
            <a:endParaRPr lang="es-CO" sz="1000" dirty="0">
              <a:latin typeface="Trebuchet MS" pitchFamily="34" charset="0"/>
            </a:endParaRPr>
          </a:p>
        </p:txBody>
      </p:sp>
      <p:graphicFrame>
        <p:nvGraphicFramePr>
          <p:cNvPr id="13458" name="Group 1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572430"/>
              </p:ext>
            </p:extLst>
          </p:nvPr>
        </p:nvGraphicFramePr>
        <p:xfrm>
          <a:off x="285729" y="5440248"/>
          <a:ext cx="6286543" cy="2987040"/>
        </p:xfrm>
        <a:graphic>
          <a:graphicData uri="http://schemas.openxmlformats.org/drawingml/2006/table">
            <a:tbl>
              <a:tblPr/>
              <a:tblGrid>
                <a:gridCol w="1919135"/>
                <a:gridCol w="2664296"/>
                <a:gridCol w="1703112"/>
              </a:tblGrid>
              <a:tr h="123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rebuchet MS" pitchFamily="34" charset="0"/>
                        </a:rPr>
                        <a:t>Elemento</a:t>
                      </a:r>
                      <a:endParaRPr kumimoji="0" lang="es-CO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rebuchet MS" pitchFamily="34" charset="0"/>
                        </a:rPr>
                        <a:t>Material</a:t>
                      </a:r>
                      <a:endParaRPr kumimoji="0" lang="es-CO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rebuchet MS" pitchFamily="34" charset="0"/>
                        </a:rPr>
                        <a:t>Acabado</a:t>
                      </a:r>
                      <a:endParaRPr kumimoji="0" lang="es-CO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</a:tr>
              <a:tr h="122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1. Baldosa acústica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Altura: 38cm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Frente: 30/45/60/75/90/120/150cm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lang="es-ES" sz="1000" baseline="0" dirty="0" smtClean="0">
                          <a:latin typeface="Segoe UI Light" pitchFamily="34" charset="0"/>
                        </a:rPr>
                        <a:t>Lámina de acero </a:t>
                      </a:r>
                      <a:r>
                        <a:rPr lang="es-ES" sz="1000" baseline="0" dirty="0" err="1" smtClean="0">
                          <a:latin typeface="Segoe UI Light" pitchFamily="34" charset="0"/>
                        </a:rPr>
                        <a:t>cold</a:t>
                      </a:r>
                      <a:r>
                        <a:rPr lang="es-ES" sz="1000" baseline="0" dirty="0" smtClean="0">
                          <a:latin typeface="Segoe UI Light" pitchFamily="34" charset="0"/>
                        </a:rPr>
                        <a:t> </a:t>
                      </a:r>
                      <a:r>
                        <a:rPr lang="es-ES" sz="1000" baseline="0" dirty="0" err="1" smtClean="0">
                          <a:latin typeface="Segoe UI Light" pitchFamily="34" charset="0"/>
                        </a:rPr>
                        <a:t>rolled</a:t>
                      </a:r>
                      <a:r>
                        <a:rPr lang="es-ES" sz="1000" baseline="0" dirty="0" smtClean="0">
                          <a:latin typeface="Segoe UI Light" pitchFamily="34" charset="0"/>
                        </a:rPr>
                        <a:t> calibre 20. Recubrimiento en </a:t>
                      </a:r>
                      <a:r>
                        <a:rPr lang="es-ES" sz="1000" baseline="0" dirty="0" err="1" smtClean="0">
                          <a:latin typeface="Segoe UI Light" pitchFamily="34" charset="0"/>
                        </a:rPr>
                        <a:t>Duracustic</a:t>
                      </a:r>
                      <a:r>
                        <a:rPr lang="es-ES" sz="1000" baseline="0" dirty="0" smtClean="0">
                          <a:latin typeface="Segoe UI Light" pitchFamily="34" charset="0"/>
                        </a:rPr>
                        <a:t>(</a:t>
                      </a:r>
                      <a:r>
                        <a:rPr lang="es-ES" sz="1000" baseline="0" dirty="0" err="1" smtClean="0">
                          <a:latin typeface="Segoe UI Light" pitchFamily="34" charset="0"/>
                        </a:rPr>
                        <a:t>Fiberglass</a:t>
                      </a:r>
                      <a:r>
                        <a:rPr lang="es-ES" sz="1000" baseline="0" dirty="0" smtClean="0">
                          <a:latin typeface="Segoe UI Light" pitchFamily="34" charset="0"/>
                        </a:rPr>
                        <a:t>). Unión por medio de pines de Nylon.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Telas</a:t>
                      </a: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de línea y vinílicas.</a:t>
                      </a:r>
                      <a:endParaRPr lang="es-ES" sz="1000" kern="1200" dirty="0" smtClean="0">
                        <a:solidFill>
                          <a:schemeClr val="tx1"/>
                        </a:solidFill>
                        <a:latin typeface="Segoe UI Light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4085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2. Baldosa tela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Altura: 20/22/38/76cm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Frente: 30/45/60/75/90/120/150cm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Aglomerado MDP de 15mm</a:t>
                      </a: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tapizado en tela. </a:t>
                      </a:r>
                      <a:r>
                        <a:rPr lang="es-ES" sz="1000" baseline="0" dirty="0" smtClean="0">
                          <a:latin typeface="Segoe UI Light" pitchFamily="34" charset="0"/>
                        </a:rPr>
                        <a:t>Unión por medio de pines de Nylon.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lang="es-ES" sz="1000" kern="1200" dirty="0" smtClean="0">
                        <a:solidFill>
                          <a:schemeClr val="tx1"/>
                        </a:solidFill>
                        <a:latin typeface="Segoe UI Light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Telas de línea y vinílicas.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23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3. Baldosa puerto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Altura: 16/38cm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Frente: 60/75/90/120/150cm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lang="es-ES" sz="1000" baseline="0" dirty="0" smtClean="0">
                          <a:latin typeface="Segoe UI Light" pitchFamily="34" charset="0"/>
                        </a:rPr>
                        <a:t>Lámina de acero </a:t>
                      </a:r>
                      <a:r>
                        <a:rPr lang="es-ES" sz="1000" baseline="0" dirty="0" err="1" smtClean="0">
                          <a:latin typeface="Segoe UI Light" pitchFamily="34" charset="0"/>
                        </a:rPr>
                        <a:t>cold</a:t>
                      </a:r>
                      <a:r>
                        <a:rPr lang="es-ES" sz="1000" baseline="0" dirty="0" smtClean="0">
                          <a:latin typeface="Segoe UI Light" pitchFamily="34" charset="0"/>
                        </a:rPr>
                        <a:t> </a:t>
                      </a:r>
                      <a:r>
                        <a:rPr lang="es-ES" sz="1000" baseline="0" dirty="0" err="1" smtClean="0">
                          <a:latin typeface="Segoe UI Light" pitchFamily="34" charset="0"/>
                        </a:rPr>
                        <a:t>rolled</a:t>
                      </a:r>
                      <a:r>
                        <a:rPr lang="es-ES" sz="1000" baseline="0" dirty="0" smtClean="0">
                          <a:latin typeface="Segoe UI Light" pitchFamily="34" charset="0"/>
                        </a:rPr>
                        <a:t> calibre 20. Unión por medio de pines de Nylon.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Colores</a:t>
                      </a: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p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intura </a:t>
                      </a:r>
                      <a:r>
                        <a:rPr lang="es-ES" sz="1000" kern="120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horneable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de aplicación electrostática.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23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4. Tapa zócalo liso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Altura: 16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Frente: 30/45/60/75/90/120/150cm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lang="es-ES" sz="1000" baseline="0" dirty="0" smtClean="0">
                          <a:latin typeface="Segoe UI Light" pitchFamily="34" charset="0"/>
                        </a:rPr>
                        <a:t>Lámina de acero </a:t>
                      </a:r>
                      <a:r>
                        <a:rPr lang="es-ES" sz="1000" baseline="0" dirty="0" err="1" smtClean="0">
                          <a:latin typeface="Segoe UI Light" pitchFamily="34" charset="0"/>
                        </a:rPr>
                        <a:t>cold</a:t>
                      </a:r>
                      <a:r>
                        <a:rPr lang="es-ES" sz="1000" baseline="0" dirty="0" smtClean="0">
                          <a:latin typeface="Segoe UI Light" pitchFamily="34" charset="0"/>
                        </a:rPr>
                        <a:t> </a:t>
                      </a:r>
                      <a:r>
                        <a:rPr lang="es-ES" sz="1000" baseline="0" dirty="0" err="1" smtClean="0">
                          <a:latin typeface="Segoe UI Light" pitchFamily="34" charset="0"/>
                        </a:rPr>
                        <a:t>rolled</a:t>
                      </a:r>
                      <a:r>
                        <a:rPr lang="es-ES" sz="1000" baseline="0" dirty="0" smtClean="0">
                          <a:latin typeface="Segoe UI Light" pitchFamily="34" charset="0"/>
                        </a:rPr>
                        <a:t> calibre 20. Unión por medio de pines de Nylon.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Colores</a:t>
                      </a: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p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intura </a:t>
                      </a:r>
                      <a:r>
                        <a:rPr lang="es-ES" sz="1000" kern="120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horneable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de aplicación electrostática.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23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5. Tapa zócalo tomas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Altura: 16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Frente: 60/75/90/120/150cm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lang="es-ES" sz="1000" baseline="0" dirty="0" smtClean="0">
                          <a:latin typeface="Segoe UI Light" pitchFamily="34" charset="0"/>
                        </a:rPr>
                        <a:t>Lámina de acero </a:t>
                      </a:r>
                      <a:r>
                        <a:rPr lang="es-ES" sz="1000" baseline="0" dirty="0" err="1" smtClean="0">
                          <a:latin typeface="Segoe UI Light" pitchFamily="34" charset="0"/>
                        </a:rPr>
                        <a:t>cold</a:t>
                      </a:r>
                      <a:r>
                        <a:rPr lang="es-ES" sz="1000" baseline="0" dirty="0" smtClean="0">
                          <a:latin typeface="Segoe UI Light" pitchFamily="34" charset="0"/>
                        </a:rPr>
                        <a:t> </a:t>
                      </a:r>
                      <a:r>
                        <a:rPr lang="es-ES" sz="1000" baseline="0" dirty="0" err="1" smtClean="0">
                          <a:latin typeface="Segoe UI Light" pitchFamily="34" charset="0"/>
                        </a:rPr>
                        <a:t>rolled</a:t>
                      </a:r>
                      <a:r>
                        <a:rPr lang="es-ES" sz="1000" baseline="0" dirty="0" smtClean="0">
                          <a:latin typeface="Segoe UI Light" pitchFamily="34" charset="0"/>
                        </a:rPr>
                        <a:t> calibre 20. Unión por medio de pines de Nylon.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Colores</a:t>
                      </a: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p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intura </a:t>
                      </a:r>
                      <a:r>
                        <a:rPr lang="es-ES" sz="1000" kern="120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horneable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de aplicación electrostática.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370" name="47 Rectángulo"/>
          <p:cNvSpPr>
            <a:spLocks noChangeArrowheads="1"/>
          </p:cNvSpPr>
          <p:nvPr/>
        </p:nvSpPr>
        <p:spPr bwMode="auto">
          <a:xfrm>
            <a:off x="5129213" y="8915400"/>
            <a:ext cx="1728787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MX" sz="900" dirty="0">
                <a:latin typeface="Helvetica"/>
                <a:cs typeface="Helvetica"/>
              </a:rPr>
              <a:t>F-30-042  Rev.03; 11-04-2014</a:t>
            </a:r>
            <a:endParaRPr lang="es-CO" sz="900" dirty="0">
              <a:latin typeface="Helvetica"/>
              <a:cs typeface="Helvetica"/>
            </a:endParaRPr>
          </a:p>
        </p:txBody>
      </p:sp>
      <p:sp>
        <p:nvSpPr>
          <p:cNvPr id="13462" name="AutoShape 150" descr="cid:image003.png@01CBE32D.F4A50500"/>
          <p:cNvSpPr>
            <a:spLocks noChangeAspect="1" noChangeArrowheads="1"/>
          </p:cNvSpPr>
          <p:nvPr/>
        </p:nvSpPr>
        <p:spPr bwMode="auto">
          <a:xfrm>
            <a:off x="123825" y="46038"/>
            <a:ext cx="1962150" cy="857250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  <p:sp>
        <p:nvSpPr>
          <p:cNvPr id="13464" name="AutoShape 152" descr="cid:image003.png@01CBE32D.F4A50500"/>
          <p:cNvSpPr>
            <a:spLocks noChangeAspect="1" noChangeArrowheads="1"/>
          </p:cNvSpPr>
          <p:nvPr/>
        </p:nvSpPr>
        <p:spPr bwMode="auto">
          <a:xfrm>
            <a:off x="2214554" y="4214810"/>
            <a:ext cx="1962150" cy="857250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  <p:sp>
        <p:nvSpPr>
          <p:cNvPr id="2" name="13 Rectángulo"/>
          <p:cNvSpPr/>
          <p:nvPr/>
        </p:nvSpPr>
        <p:spPr>
          <a:xfrm>
            <a:off x="4926083" y="996107"/>
            <a:ext cx="1717605" cy="2635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s-MX" sz="1400" b="1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Baldosas</a:t>
            </a:r>
            <a:endParaRPr lang="es-MX" sz="1400" b="1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146" name="AutoShape 2" descr="Imágenes integradas 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6148" name="AutoShape 4" descr="Imágenes integradas 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16" name="Picture 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666" y="1852533"/>
            <a:ext cx="1914746" cy="1135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1732" y="1780070"/>
            <a:ext cx="1914746" cy="1135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2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128" y="1632251"/>
            <a:ext cx="1846967" cy="1355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47 Rectángulo"/>
          <p:cNvSpPr>
            <a:spLocks noChangeArrowheads="1"/>
          </p:cNvSpPr>
          <p:nvPr/>
        </p:nvSpPr>
        <p:spPr bwMode="auto">
          <a:xfrm>
            <a:off x="306666" y="1893071"/>
            <a:ext cx="346620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O" sz="1000" dirty="0">
                <a:latin typeface="Trebuchet MS" pitchFamily="34" charset="0"/>
              </a:rPr>
              <a:t>1</a:t>
            </a:r>
            <a:r>
              <a:rPr lang="es-CO" sz="1000" dirty="0" smtClean="0">
                <a:latin typeface="Trebuchet MS" pitchFamily="34" charset="0"/>
              </a:rPr>
              <a:t>.</a:t>
            </a:r>
            <a:endParaRPr lang="es-CO" sz="1000" dirty="0">
              <a:latin typeface="Trebuchet MS" pitchFamily="34" charset="0"/>
            </a:endParaRPr>
          </a:p>
        </p:txBody>
      </p:sp>
      <p:sp>
        <p:nvSpPr>
          <p:cNvPr id="20" name="47 Rectángulo"/>
          <p:cNvSpPr>
            <a:spLocks noChangeArrowheads="1"/>
          </p:cNvSpPr>
          <p:nvPr/>
        </p:nvSpPr>
        <p:spPr bwMode="auto">
          <a:xfrm>
            <a:off x="2495538" y="1856410"/>
            <a:ext cx="346620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O" sz="1000" dirty="0" smtClean="0">
                <a:latin typeface="Trebuchet MS" pitchFamily="34" charset="0"/>
              </a:rPr>
              <a:t>2.</a:t>
            </a:r>
            <a:endParaRPr lang="es-CO" sz="1000" dirty="0">
              <a:latin typeface="Trebuchet MS" pitchFamily="34" charset="0"/>
            </a:endParaRPr>
          </a:p>
        </p:txBody>
      </p:sp>
      <p:sp>
        <p:nvSpPr>
          <p:cNvPr id="21" name="47 Rectángulo"/>
          <p:cNvSpPr>
            <a:spLocks noChangeArrowheads="1"/>
          </p:cNvSpPr>
          <p:nvPr/>
        </p:nvSpPr>
        <p:spPr bwMode="auto">
          <a:xfrm>
            <a:off x="4684410" y="1835696"/>
            <a:ext cx="346620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O" sz="1000" dirty="0" smtClean="0">
                <a:latin typeface="Trebuchet MS" pitchFamily="34" charset="0"/>
              </a:rPr>
              <a:t>3.</a:t>
            </a:r>
            <a:endParaRPr lang="es-CO" sz="1000" dirty="0">
              <a:latin typeface="Trebuchet MS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6752" y="3405133"/>
            <a:ext cx="1889855" cy="1399674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06230" y="3282172"/>
            <a:ext cx="1981731" cy="1528951"/>
          </a:xfrm>
          <a:prstGeom prst="rect">
            <a:avLst/>
          </a:prstGeom>
        </p:spPr>
      </p:pic>
      <p:sp>
        <p:nvSpPr>
          <p:cNvPr id="22" name="47 Rectángulo"/>
          <p:cNvSpPr>
            <a:spLocks noChangeArrowheads="1"/>
          </p:cNvSpPr>
          <p:nvPr/>
        </p:nvSpPr>
        <p:spPr bwMode="auto">
          <a:xfrm>
            <a:off x="2298745" y="3400544"/>
            <a:ext cx="346620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O" sz="1000" dirty="0" smtClean="0">
                <a:latin typeface="Trebuchet MS" pitchFamily="34" charset="0"/>
              </a:rPr>
              <a:t>4.</a:t>
            </a:r>
            <a:endParaRPr lang="es-CO" sz="1000" dirty="0">
              <a:latin typeface="Trebuchet MS" pitchFamily="34" charset="0"/>
            </a:endParaRPr>
          </a:p>
        </p:txBody>
      </p:sp>
      <p:sp>
        <p:nvSpPr>
          <p:cNvPr id="23" name="47 Rectángulo"/>
          <p:cNvSpPr>
            <a:spLocks noChangeArrowheads="1"/>
          </p:cNvSpPr>
          <p:nvPr/>
        </p:nvSpPr>
        <p:spPr bwMode="auto">
          <a:xfrm>
            <a:off x="4864857" y="3354635"/>
            <a:ext cx="346620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O" sz="1000" dirty="0">
                <a:latin typeface="Trebuchet MS" pitchFamily="34" charset="0"/>
              </a:rPr>
              <a:t>5</a:t>
            </a:r>
            <a:r>
              <a:rPr lang="es-CO" sz="1000" dirty="0" smtClean="0">
                <a:latin typeface="Trebuchet MS" pitchFamily="34" charset="0"/>
              </a:rPr>
              <a:t>.</a:t>
            </a:r>
            <a:endParaRPr lang="es-CO" sz="1000" dirty="0"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731767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5329" y="3217875"/>
            <a:ext cx="2293001" cy="149120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6679" y="1327109"/>
            <a:ext cx="2040812" cy="1800428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5306" y="2926867"/>
            <a:ext cx="1840637" cy="1983743"/>
          </a:xfrm>
          <a:prstGeom prst="rect">
            <a:avLst/>
          </a:prstGeom>
        </p:spPr>
      </p:pic>
      <p:pic>
        <p:nvPicPr>
          <p:cNvPr id="29" name="Imagen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27766" y="1021918"/>
            <a:ext cx="1335725" cy="1688661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918" y="1145190"/>
            <a:ext cx="1392100" cy="1252580"/>
          </a:xfrm>
          <a:prstGeom prst="rect">
            <a:avLst/>
          </a:prstGeom>
        </p:spPr>
      </p:pic>
      <p:sp>
        <p:nvSpPr>
          <p:cNvPr id="18" name="17 Rectángulo redondeado"/>
          <p:cNvSpPr>
            <a:spLocks noChangeArrowheads="1"/>
          </p:cNvSpPr>
          <p:nvPr/>
        </p:nvSpPr>
        <p:spPr bwMode="auto">
          <a:xfrm>
            <a:off x="214313" y="214314"/>
            <a:ext cx="6429375" cy="591316"/>
          </a:xfrm>
          <a:prstGeom prst="roundRect">
            <a:avLst>
              <a:gd name="adj" fmla="val 7903"/>
            </a:avLst>
          </a:prstGeom>
          <a:solidFill>
            <a:schemeClr val="bg1">
              <a:lumMod val="85000"/>
            </a:schemeClr>
          </a:solidFill>
          <a:ln w="3175" algn="ctr">
            <a:noFill/>
            <a:round/>
            <a:headEnd/>
            <a:tailEnd/>
          </a:ln>
        </p:spPr>
        <p:txBody>
          <a:bodyPr anchor="ctr"/>
          <a:lstStyle/>
          <a:p>
            <a:pPr algn="r"/>
            <a:r>
              <a:rPr lang="es-MX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Información Técnica de Producto – </a:t>
            </a:r>
            <a:r>
              <a:rPr lang="es-MX" b="1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Múltiple</a:t>
            </a:r>
          </a:p>
        </p:txBody>
      </p:sp>
      <p:pic>
        <p:nvPicPr>
          <p:cNvPr id="13460" name="Picture 148" descr="logo Mepal"/>
          <p:cNvPicPr>
            <a:picLocks noChangeAspect="1" noChangeArrowheads="1"/>
          </p:cNvPicPr>
          <p:nvPr/>
        </p:nvPicPr>
        <p:blipFill rotWithShape="1"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17748"/>
          <a:stretch/>
        </p:blipFill>
        <p:spPr bwMode="auto">
          <a:xfrm>
            <a:off x="260350" y="271959"/>
            <a:ext cx="1440458" cy="533670"/>
          </a:xfrm>
          <a:prstGeom prst="rect">
            <a:avLst/>
          </a:prstGeom>
          <a:noFill/>
        </p:spPr>
      </p:pic>
      <p:sp>
        <p:nvSpPr>
          <p:cNvPr id="13336" name="47 Rectángulo"/>
          <p:cNvSpPr>
            <a:spLocks noChangeArrowheads="1"/>
          </p:cNvSpPr>
          <p:nvPr/>
        </p:nvSpPr>
        <p:spPr bwMode="auto">
          <a:xfrm>
            <a:off x="142852" y="8572528"/>
            <a:ext cx="6858023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MX" sz="1000" dirty="0">
                <a:latin typeface="Trebuchet MS" pitchFamily="34" charset="0"/>
              </a:rPr>
              <a:t>Nota</a:t>
            </a:r>
            <a:r>
              <a:rPr lang="es-MX" sz="1000" dirty="0" smtClean="0">
                <a:latin typeface="Trebuchet MS" pitchFamily="34" charset="0"/>
              </a:rPr>
              <a:t>:</a:t>
            </a:r>
            <a:endParaRPr lang="es-CO" sz="1000" dirty="0">
              <a:latin typeface="Trebuchet MS" pitchFamily="34" charset="0"/>
            </a:endParaRPr>
          </a:p>
        </p:txBody>
      </p:sp>
      <p:graphicFrame>
        <p:nvGraphicFramePr>
          <p:cNvPr id="13458" name="Group 1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456623"/>
              </p:ext>
            </p:extLst>
          </p:nvPr>
        </p:nvGraphicFramePr>
        <p:xfrm>
          <a:off x="285729" y="5046672"/>
          <a:ext cx="6286543" cy="3840480"/>
        </p:xfrm>
        <a:graphic>
          <a:graphicData uri="http://schemas.openxmlformats.org/drawingml/2006/table">
            <a:tbl>
              <a:tblPr/>
              <a:tblGrid>
                <a:gridCol w="1919135"/>
                <a:gridCol w="2664296"/>
                <a:gridCol w="1703112"/>
              </a:tblGrid>
              <a:tr h="123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rebuchet MS" pitchFamily="34" charset="0"/>
                        </a:rPr>
                        <a:t>Elemento</a:t>
                      </a:r>
                      <a:endParaRPr kumimoji="0" lang="es-CO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rebuchet MS" pitchFamily="34" charset="0"/>
                        </a:rPr>
                        <a:t>Material</a:t>
                      </a:r>
                      <a:endParaRPr kumimoji="0" lang="es-CO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rebuchet MS" pitchFamily="34" charset="0"/>
                        </a:rPr>
                        <a:t>Acabado</a:t>
                      </a:r>
                      <a:endParaRPr kumimoji="0" lang="es-CO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</a:tr>
              <a:tr h="122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1. U de piso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Largo: 300cm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Lámina de acero </a:t>
                      </a:r>
                      <a:r>
                        <a:rPr lang="es-ES" sz="1000" kern="120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cold-rolled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calibre 20.</a:t>
                      </a:r>
                      <a:endParaRPr lang="es-ES" sz="1000" baseline="0" dirty="0" smtClean="0">
                        <a:latin typeface="Segoe UI Light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Colores</a:t>
                      </a: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p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intura </a:t>
                      </a:r>
                      <a:r>
                        <a:rPr lang="es-ES" sz="1000" kern="120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horneable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de aplicación electrostática.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4085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2. U de techo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Largo: 300cm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Lámina de acero </a:t>
                      </a:r>
                      <a:r>
                        <a:rPr lang="es-ES" sz="1000" kern="120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cold-rolled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calibre 20.</a:t>
                      </a:r>
                      <a:endParaRPr lang="es-ES" sz="1000" baseline="0" dirty="0" smtClean="0">
                        <a:latin typeface="Segoe UI Light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lang="es-ES" sz="1000" kern="1200" dirty="0" smtClean="0">
                        <a:solidFill>
                          <a:schemeClr val="tx1"/>
                        </a:solidFill>
                        <a:latin typeface="Segoe UI Light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Colores</a:t>
                      </a: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p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intura </a:t>
                      </a:r>
                      <a:r>
                        <a:rPr lang="es-ES" sz="1000" kern="120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horneable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de aplicación electrostática.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4085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3. Columna sencilla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Altura: 90/128/166/204/242/280/318cm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lang="es-ES" sz="1000" baseline="0" dirty="0" smtClean="0">
                          <a:latin typeface="Segoe UI Light" pitchFamily="34" charset="0"/>
                        </a:rPr>
                        <a:t>Perfil de aluminio extruido (Perfil OFI-004). Cinta extruida en plástico PVC.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Colores</a:t>
                      </a: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p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intura </a:t>
                      </a:r>
                      <a:r>
                        <a:rPr lang="es-ES" sz="1000" kern="120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horneable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de aplicación electrostática.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23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4. Columna doble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Altura: 90/128/166/204/242/280/318cm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lang="es-ES" sz="1000" baseline="0" dirty="0" smtClean="0">
                          <a:latin typeface="Segoe UI Light" pitchFamily="34" charset="0"/>
                        </a:rPr>
                        <a:t>Perfil de aluminio extruido (Perfil OFI-33). U interna en lámina de acero CR </a:t>
                      </a:r>
                      <a:r>
                        <a:rPr lang="es-ES" sz="1000" baseline="0" dirty="0" err="1" smtClean="0">
                          <a:latin typeface="Segoe UI Light" pitchFamily="34" charset="0"/>
                        </a:rPr>
                        <a:t>callibre</a:t>
                      </a:r>
                      <a:r>
                        <a:rPr lang="es-ES" sz="1000" baseline="0" dirty="0" smtClean="0">
                          <a:latin typeface="Segoe UI Light" pitchFamily="34" charset="0"/>
                        </a:rPr>
                        <a:t> 18. Cintas extruidas en plástico PVC.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Colores</a:t>
                      </a: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p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intura </a:t>
                      </a:r>
                      <a:r>
                        <a:rPr lang="es-ES" sz="1000" kern="120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horneable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de aplicación electrostática.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23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5. Ducto bajante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lang="es-ES" sz="1000" baseline="0" dirty="0" smtClean="0">
                          <a:latin typeface="Segoe UI Light" pitchFamily="34" charset="0"/>
                        </a:rPr>
                        <a:t>Cuerpo fabricado con perfil de aluminio extruido (Perfil OFI-33). U interna en lámina de acero CR </a:t>
                      </a:r>
                      <a:r>
                        <a:rPr lang="es-ES" sz="1000" baseline="0" dirty="0" err="1" smtClean="0">
                          <a:latin typeface="Segoe UI Light" pitchFamily="34" charset="0"/>
                        </a:rPr>
                        <a:t>callibre</a:t>
                      </a:r>
                      <a:r>
                        <a:rPr lang="es-ES" sz="1000" baseline="0" dirty="0" smtClean="0">
                          <a:latin typeface="Segoe UI Light" pitchFamily="34" charset="0"/>
                        </a:rPr>
                        <a:t> 18. Escuadra de fijación en lámina de acero CR calibre 18. Cintas extruidas en plástico PVC.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Colores</a:t>
                      </a: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p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intura </a:t>
                      </a:r>
                      <a:r>
                        <a:rPr lang="es-ES" sz="1000" kern="120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horneable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de aplicación electrostática.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23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6. Acoples U de techo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Frente: 120/150cm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Lámina de acero </a:t>
                      </a:r>
                      <a:r>
                        <a:rPr lang="es-ES" sz="1000" kern="120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cold-rolled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calibre 20.</a:t>
                      </a:r>
                      <a:endParaRPr lang="es-ES" sz="1000" baseline="0" dirty="0" smtClean="0">
                        <a:latin typeface="Segoe UI Light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Colores</a:t>
                      </a: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p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intura </a:t>
                      </a:r>
                      <a:r>
                        <a:rPr lang="es-ES" sz="1000" kern="120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horneable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de aplicación electrostática.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370" name="47 Rectángulo"/>
          <p:cNvSpPr>
            <a:spLocks noChangeArrowheads="1"/>
          </p:cNvSpPr>
          <p:nvPr/>
        </p:nvSpPr>
        <p:spPr bwMode="auto">
          <a:xfrm>
            <a:off x="5129213" y="8915400"/>
            <a:ext cx="1728787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MX" sz="900" dirty="0">
                <a:latin typeface="Helvetica"/>
                <a:cs typeface="Helvetica"/>
              </a:rPr>
              <a:t>F-30-042  Rev.03; 11-04-2014</a:t>
            </a:r>
            <a:endParaRPr lang="es-CO" sz="900" dirty="0">
              <a:latin typeface="Helvetica"/>
              <a:cs typeface="Helvetica"/>
            </a:endParaRPr>
          </a:p>
        </p:txBody>
      </p:sp>
      <p:sp>
        <p:nvSpPr>
          <p:cNvPr id="13462" name="AutoShape 150" descr="cid:image003.png@01CBE32D.F4A50500"/>
          <p:cNvSpPr>
            <a:spLocks noChangeAspect="1" noChangeArrowheads="1"/>
          </p:cNvSpPr>
          <p:nvPr/>
        </p:nvSpPr>
        <p:spPr bwMode="auto">
          <a:xfrm>
            <a:off x="123825" y="46038"/>
            <a:ext cx="1962150" cy="857250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  <p:sp>
        <p:nvSpPr>
          <p:cNvPr id="13464" name="AutoShape 152" descr="cid:image003.png@01CBE32D.F4A50500"/>
          <p:cNvSpPr>
            <a:spLocks noChangeAspect="1" noChangeArrowheads="1"/>
          </p:cNvSpPr>
          <p:nvPr/>
        </p:nvSpPr>
        <p:spPr bwMode="auto">
          <a:xfrm>
            <a:off x="2214554" y="4214810"/>
            <a:ext cx="1962150" cy="857250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  <p:sp>
        <p:nvSpPr>
          <p:cNvPr id="2" name="13 Rectángulo"/>
          <p:cNvSpPr/>
          <p:nvPr/>
        </p:nvSpPr>
        <p:spPr>
          <a:xfrm>
            <a:off x="4926083" y="996107"/>
            <a:ext cx="1717605" cy="2635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s-MX" sz="1400" b="1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Superficies y otros</a:t>
            </a:r>
            <a:endParaRPr lang="es-MX" sz="1400" b="1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146" name="AutoShape 2" descr="Imágenes integradas 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6148" name="AutoShape 4" descr="Imágenes integradas 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23" name="47 Rectángulo"/>
          <p:cNvSpPr>
            <a:spLocks noChangeArrowheads="1"/>
          </p:cNvSpPr>
          <p:nvPr/>
        </p:nvSpPr>
        <p:spPr bwMode="auto">
          <a:xfrm>
            <a:off x="139672" y="1256386"/>
            <a:ext cx="69323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CO" sz="1000" dirty="0" smtClean="0">
                <a:latin typeface="Trebuchet MS" pitchFamily="34" charset="0"/>
              </a:rPr>
              <a:t>1.</a:t>
            </a:r>
            <a:endParaRPr lang="es-CO" sz="1000" dirty="0">
              <a:latin typeface="Trebuchet MS" pitchFamily="34" charset="0"/>
            </a:endParaRPr>
          </a:p>
        </p:txBody>
      </p:sp>
      <p:sp>
        <p:nvSpPr>
          <p:cNvPr id="24" name="47 Rectángulo"/>
          <p:cNvSpPr>
            <a:spLocks noChangeArrowheads="1"/>
          </p:cNvSpPr>
          <p:nvPr/>
        </p:nvSpPr>
        <p:spPr bwMode="auto">
          <a:xfrm>
            <a:off x="1948994" y="3179950"/>
            <a:ext cx="69323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O" sz="1000" dirty="0">
                <a:latin typeface="Trebuchet MS" pitchFamily="34" charset="0"/>
              </a:rPr>
              <a:t>4</a:t>
            </a:r>
            <a:r>
              <a:rPr lang="es-CO" sz="1000" dirty="0" smtClean="0">
                <a:latin typeface="Trebuchet MS" pitchFamily="34" charset="0"/>
              </a:rPr>
              <a:t>.</a:t>
            </a:r>
            <a:endParaRPr lang="es-CO" sz="1000" dirty="0">
              <a:latin typeface="Trebuchet MS" pitchFamily="34" charset="0"/>
            </a:endParaRPr>
          </a:p>
        </p:txBody>
      </p:sp>
      <p:sp>
        <p:nvSpPr>
          <p:cNvPr id="25" name="47 Rectángulo"/>
          <p:cNvSpPr>
            <a:spLocks noChangeArrowheads="1"/>
          </p:cNvSpPr>
          <p:nvPr/>
        </p:nvSpPr>
        <p:spPr bwMode="auto">
          <a:xfrm>
            <a:off x="2094955" y="1259632"/>
            <a:ext cx="69323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O" sz="1000" dirty="0" smtClean="0">
                <a:latin typeface="Trebuchet MS" pitchFamily="34" charset="0"/>
              </a:rPr>
              <a:t>3.</a:t>
            </a:r>
            <a:endParaRPr lang="es-CO" sz="1000" dirty="0">
              <a:latin typeface="Trebuchet MS" pitchFamily="34" charset="0"/>
            </a:endParaRPr>
          </a:p>
        </p:txBody>
      </p:sp>
      <p:sp>
        <p:nvSpPr>
          <p:cNvPr id="26" name="47 Rectángulo"/>
          <p:cNvSpPr>
            <a:spLocks noChangeArrowheads="1"/>
          </p:cNvSpPr>
          <p:nvPr/>
        </p:nvSpPr>
        <p:spPr bwMode="auto">
          <a:xfrm>
            <a:off x="4221114" y="1259632"/>
            <a:ext cx="69323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CO" sz="1000" dirty="0" smtClean="0">
                <a:latin typeface="Trebuchet MS" pitchFamily="34" charset="0"/>
              </a:rPr>
              <a:t>5</a:t>
            </a:r>
            <a:endParaRPr lang="es-CO" sz="1000" dirty="0">
              <a:latin typeface="Trebuchet MS" pitchFamily="34" charset="0"/>
            </a:endParaRPr>
          </a:p>
        </p:txBody>
      </p:sp>
      <p:sp>
        <p:nvSpPr>
          <p:cNvPr id="27" name="47 Rectángulo"/>
          <p:cNvSpPr>
            <a:spLocks noChangeArrowheads="1"/>
          </p:cNvSpPr>
          <p:nvPr/>
        </p:nvSpPr>
        <p:spPr bwMode="auto">
          <a:xfrm>
            <a:off x="201947" y="3179551"/>
            <a:ext cx="69323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CO" sz="1000" dirty="0" smtClean="0">
                <a:latin typeface="Trebuchet MS" pitchFamily="34" charset="0"/>
              </a:rPr>
              <a:t>2.</a:t>
            </a:r>
            <a:endParaRPr lang="es-CO" sz="1000" dirty="0">
              <a:latin typeface="Trebuchet MS" pitchFamily="34" charset="0"/>
            </a:endParaRPr>
          </a:p>
        </p:txBody>
      </p:sp>
      <p:sp>
        <p:nvSpPr>
          <p:cNvPr id="28" name="47 Rectángulo"/>
          <p:cNvSpPr>
            <a:spLocks noChangeArrowheads="1"/>
          </p:cNvSpPr>
          <p:nvPr/>
        </p:nvSpPr>
        <p:spPr bwMode="auto">
          <a:xfrm>
            <a:off x="4276695" y="3179552"/>
            <a:ext cx="10707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CO" sz="1000" dirty="0" smtClean="0">
                <a:latin typeface="Trebuchet MS" pitchFamily="34" charset="0"/>
              </a:rPr>
              <a:t>6.</a:t>
            </a:r>
            <a:endParaRPr lang="es-CO" sz="1000" dirty="0">
              <a:latin typeface="Trebuchet MS" pitchFamily="34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3065" y="3127537"/>
            <a:ext cx="1681953" cy="1276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4974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agen 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3096" y="2987824"/>
            <a:ext cx="805421" cy="872898"/>
          </a:xfrm>
          <a:prstGeom prst="rect">
            <a:avLst/>
          </a:prstGeom>
        </p:spPr>
      </p:pic>
      <p:pic>
        <p:nvPicPr>
          <p:cNvPr id="41" name="Imagen 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0848" y="3131840"/>
            <a:ext cx="730284" cy="796545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2859" y="2024882"/>
            <a:ext cx="1318477" cy="1146079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994" y="2146784"/>
            <a:ext cx="1415863" cy="98362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31403" y="877460"/>
            <a:ext cx="738410" cy="460689"/>
          </a:xfrm>
          <a:prstGeom prst="rect">
            <a:avLst/>
          </a:prstGeom>
        </p:spPr>
      </p:pic>
      <p:sp>
        <p:nvSpPr>
          <p:cNvPr id="34" name="47 Rectángulo"/>
          <p:cNvSpPr>
            <a:spLocks noChangeArrowheads="1"/>
          </p:cNvSpPr>
          <p:nvPr/>
        </p:nvSpPr>
        <p:spPr bwMode="auto">
          <a:xfrm>
            <a:off x="4666248" y="1649731"/>
            <a:ext cx="69323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O" sz="1000" dirty="0" smtClean="0">
                <a:latin typeface="Trebuchet MS" pitchFamily="34" charset="0"/>
              </a:rPr>
              <a:t>3.</a:t>
            </a:r>
            <a:endParaRPr lang="es-CO" sz="1000" dirty="0">
              <a:latin typeface="Trebuchet MS" pitchFamily="34" charset="0"/>
            </a:endParaRPr>
          </a:p>
        </p:txBody>
      </p:sp>
      <p:sp>
        <p:nvSpPr>
          <p:cNvPr id="18" name="17 Rectángulo redondeado"/>
          <p:cNvSpPr>
            <a:spLocks noChangeArrowheads="1"/>
          </p:cNvSpPr>
          <p:nvPr/>
        </p:nvSpPr>
        <p:spPr bwMode="auto">
          <a:xfrm>
            <a:off x="214313" y="214314"/>
            <a:ext cx="6429375" cy="591316"/>
          </a:xfrm>
          <a:prstGeom prst="roundRect">
            <a:avLst>
              <a:gd name="adj" fmla="val 7903"/>
            </a:avLst>
          </a:prstGeom>
          <a:solidFill>
            <a:schemeClr val="bg1">
              <a:lumMod val="85000"/>
            </a:schemeClr>
          </a:solidFill>
          <a:ln w="3175" algn="ctr">
            <a:noFill/>
            <a:round/>
            <a:headEnd/>
            <a:tailEnd/>
          </a:ln>
        </p:spPr>
        <p:txBody>
          <a:bodyPr anchor="ctr"/>
          <a:lstStyle/>
          <a:p>
            <a:pPr algn="r"/>
            <a:r>
              <a:rPr lang="es-MX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Información Técnica de Producto – </a:t>
            </a:r>
            <a:r>
              <a:rPr lang="es-MX" b="1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Múltiple</a:t>
            </a:r>
          </a:p>
        </p:txBody>
      </p:sp>
      <p:pic>
        <p:nvPicPr>
          <p:cNvPr id="13460" name="Picture 148" descr="logo Mepal"/>
          <p:cNvPicPr>
            <a:picLocks noChangeAspect="1" noChangeArrowheads="1"/>
          </p:cNvPicPr>
          <p:nvPr/>
        </p:nvPicPr>
        <p:blipFill rotWithShape="1"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17748"/>
          <a:stretch/>
        </p:blipFill>
        <p:spPr bwMode="auto">
          <a:xfrm>
            <a:off x="260350" y="271959"/>
            <a:ext cx="1440458" cy="533670"/>
          </a:xfrm>
          <a:prstGeom prst="rect">
            <a:avLst/>
          </a:prstGeom>
          <a:noFill/>
        </p:spPr>
      </p:pic>
      <p:sp>
        <p:nvSpPr>
          <p:cNvPr id="13336" name="47 Rectángulo"/>
          <p:cNvSpPr>
            <a:spLocks noChangeArrowheads="1"/>
          </p:cNvSpPr>
          <p:nvPr/>
        </p:nvSpPr>
        <p:spPr bwMode="auto">
          <a:xfrm>
            <a:off x="142852" y="8572528"/>
            <a:ext cx="6858023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MX" sz="1000" dirty="0">
                <a:latin typeface="Trebuchet MS" pitchFamily="34" charset="0"/>
              </a:rPr>
              <a:t>Nota</a:t>
            </a:r>
            <a:r>
              <a:rPr lang="es-MX" sz="1000" dirty="0" smtClean="0">
                <a:latin typeface="Trebuchet MS" pitchFamily="34" charset="0"/>
              </a:rPr>
              <a:t>:</a:t>
            </a:r>
            <a:endParaRPr lang="es-CO" sz="1000" dirty="0">
              <a:latin typeface="Trebuchet MS" pitchFamily="34" charset="0"/>
            </a:endParaRPr>
          </a:p>
        </p:txBody>
      </p:sp>
      <p:graphicFrame>
        <p:nvGraphicFramePr>
          <p:cNvPr id="13458" name="Group 1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397986"/>
              </p:ext>
            </p:extLst>
          </p:nvPr>
        </p:nvGraphicFramePr>
        <p:xfrm>
          <a:off x="213720" y="3874328"/>
          <a:ext cx="6527648" cy="5090160"/>
        </p:xfrm>
        <a:graphic>
          <a:graphicData uri="http://schemas.openxmlformats.org/drawingml/2006/table">
            <a:tbl>
              <a:tblPr/>
              <a:tblGrid>
                <a:gridCol w="1368151"/>
                <a:gridCol w="3456385"/>
                <a:gridCol w="1703112"/>
              </a:tblGrid>
              <a:tr h="139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rebuchet MS" pitchFamily="34" charset="0"/>
                        </a:rPr>
                        <a:t>Elemento</a:t>
                      </a:r>
                      <a:endParaRPr kumimoji="0" lang="es-CO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rebuchet MS" pitchFamily="34" charset="0"/>
                        </a:rPr>
                        <a:t>Material</a:t>
                      </a:r>
                      <a:endParaRPr kumimoji="0" lang="es-CO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rebuchet MS" pitchFamily="34" charset="0"/>
                        </a:rPr>
                        <a:t>Acabado</a:t>
                      </a:r>
                      <a:endParaRPr kumimoji="0" lang="es-CO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</a:tr>
              <a:tr h="122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1. Giro 90°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lang="es-ES" sz="1000" baseline="0" dirty="0" smtClean="0">
                          <a:latin typeface="Segoe UI Light" pitchFamily="34" charset="0"/>
                        </a:rPr>
                        <a:t>Gancho tensor corto y escuadra en acero </a:t>
                      </a:r>
                      <a:r>
                        <a:rPr lang="es-ES" sz="1000" baseline="0" dirty="0" err="1" smtClean="0">
                          <a:latin typeface="Segoe UI Light" pitchFamily="34" charset="0"/>
                        </a:rPr>
                        <a:t>cr</a:t>
                      </a:r>
                      <a:r>
                        <a:rPr lang="es-ES" sz="1000" baseline="0" dirty="0" smtClean="0">
                          <a:latin typeface="Segoe UI Light" pitchFamily="34" charset="0"/>
                        </a:rPr>
                        <a:t> calibre 12. Tapa superior y cinta en plástico PVC. Perfil burbuja en PVC flexible. Perfil de unión en aluminio (OFI-028)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Colores</a:t>
                      </a: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p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intura </a:t>
                      </a:r>
                      <a:r>
                        <a:rPr lang="es-ES" sz="1000" kern="120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horneable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de aplicación electrostática.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4085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2. Giro 180°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lang="es-ES" sz="1000" baseline="0" dirty="0" smtClean="0">
                          <a:latin typeface="Segoe UI Light" pitchFamily="34" charset="0"/>
                        </a:rPr>
                        <a:t>Gancho tensor largo en acero </a:t>
                      </a:r>
                      <a:r>
                        <a:rPr lang="es-ES" sz="1000" baseline="0" dirty="0" err="1" smtClean="0">
                          <a:latin typeface="Segoe UI Light" pitchFamily="34" charset="0"/>
                        </a:rPr>
                        <a:t>cr</a:t>
                      </a:r>
                      <a:r>
                        <a:rPr lang="es-ES" sz="1000" baseline="0" dirty="0" smtClean="0">
                          <a:latin typeface="Segoe UI Light" pitchFamily="34" charset="0"/>
                        </a:rPr>
                        <a:t> calibre 12. Tapa superior en plástico PVC. Perfil burbuja en PVC flexible. Perfil de unión en aluminio (OFI-028)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Colores</a:t>
                      </a: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p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intura </a:t>
                      </a:r>
                      <a:r>
                        <a:rPr lang="es-ES" sz="1000" kern="120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horneable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de aplicación electrostática.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23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3. Giro 180° Tipo 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lang="es-ES" sz="1000" baseline="0" dirty="0" smtClean="0">
                          <a:latin typeface="Segoe UI Light" pitchFamily="34" charset="0"/>
                        </a:rPr>
                        <a:t>Gancho tensor corto y escuadra en acero </a:t>
                      </a:r>
                      <a:r>
                        <a:rPr lang="es-ES" sz="1000" baseline="0" dirty="0" err="1" smtClean="0">
                          <a:latin typeface="Segoe UI Light" pitchFamily="34" charset="0"/>
                        </a:rPr>
                        <a:t>cr</a:t>
                      </a:r>
                      <a:r>
                        <a:rPr lang="es-ES" sz="1000" baseline="0" dirty="0" smtClean="0">
                          <a:latin typeface="Segoe UI Light" pitchFamily="34" charset="0"/>
                        </a:rPr>
                        <a:t> calibre 12. Tapa superior y cinta en plástico PVC. Perfil burbuja en PVC flexible. Perfil de unión en aluminio (OFI-028)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Colores</a:t>
                      </a: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p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intura </a:t>
                      </a:r>
                      <a:r>
                        <a:rPr lang="es-ES" sz="1000" kern="120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horneable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de aplicación electrostática.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23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4. Giro 135° / 45°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lang="es-ES" sz="1000" baseline="0" dirty="0" smtClean="0">
                          <a:latin typeface="Segoe UI Light" pitchFamily="34" charset="0"/>
                        </a:rPr>
                        <a:t>Gancho tensor corto y escuadra en acero </a:t>
                      </a:r>
                      <a:r>
                        <a:rPr lang="es-ES" sz="1000" baseline="0" dirty="0" err="1" smtClean="0">
                          <a:latin typeface="Segoe UI Light" pitchFamily="34" charset="0"/>
                        </a:rPr>
                        <a:t>cr</a:t>
                      </a:r>
                      <a:r>
                        <a:rPr lang="es-ES" sz="1000" baseline="0" dirty="0" smtClean="0">
                          <a:latin typeface="Segoe UI Light" pitchFamily="34" charset="0"/>
                        </a:rPr>
                        <a:t> calibre 12. Tapa superior y cinta en plástico PVC. Perfil burbuja en PVC flexible. Perfil de unión en aluminio (OFI-028)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Colores</a:t>
                      </a: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p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intura </a:t>
                      </a:r>
                      <a:r>
                        <a:rPr lang="es-ES" sz="1000" kern="120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horneable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de aplicación electrostática.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000" kern="1200" dirty="0" smtClean="0">
                        <a:solidFill>
                          <a:schemeClr val="tx1"/>
                        </a:solidFill>
                        <a:latin typeface="Segoe UI Light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23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5. Giro 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lang="es-ES" sz="1000" baseline="0" dirty="0" smtClean="0">
                          <a:latin typeface="Segoe UI Light" pitchFamily="34" charset="0"/>
                        </a:rPr>
                        <a:t>Gancho tensor corto y escuadra en acero </a:t>
                      </a:r>
                      <a:r>
                        <a:rPr lang="es-ES" sz="1000" baseline="0" dirty="0" err="1" smtClean="0">
                          <a:latin typeface="Segoe UI Light" pitchFamily="34" charset="0"/>
                        </a:rPr>
                        <a:t>cr</a:t>
                      </a:r>
                      <a:r>
                        <a:rPr lang="es-ES" sz="1000" baseline="0" dirty="0" smtClean="0">
                          <a:latin typeface="Segoe UI Light" pitchFamily="34" charset="0"/>
                        </a:rPr>
                        <a:t> calibre 12. Tapa superior y cinta en plástico PVC. Perfil burbuja en PVC flexible. Perfil de unión en aluminio (OFI-028)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Colores</a:t>
                      </a: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p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intura </a:t>
                      </a:r>
                      <a:r>
                        <a:rPr lang="es-ES" sz="1000" kern="120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horneable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de aplicación electrostática.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000" kern="1200" dirty="0" smtClean="0">
                        <a:solidFill>
                          <a:schemeClr val="tx1"/>
                        </a:solidFill>
                        <a:latin typeface="Segoe UI Light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23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6. Giro 120°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lang="es-ES" sz="1000" baseline="0" dirty="0" smtClean="0">
                          <a:latin typeface="Segoe UI Light" pitchFamily="34" charset="0"/>
                        </a:rPr>
                        <a:t>Gancho tensor corto y escuadra en acero </a:t>
                      </a:r>
                      <a:r>
                        <a:rPr lang="es-ES" sz="1000" baseline="0" dirty="0" err="1" smtClean="0">
                          <a:latin typeface="Segoe UI Light" pitchFamily="34" charset="0"/>
                        </a:rPr>
                        <a:t>cr</a:t>
                      </a:r>
                      <a:r>
                        <a:rPr lang="es-ES" sz="1000" baseline="0" dirty="0" smtClean="0">
                          <a:latin typeface="Segoe UI Light" pitchFamily="34" charset="0"/>
                        </a:rPr>
                        <a:t> calibre 12. Tapa superior en plástico PVC. Perfil burbuja en PVC flexible. Perfil de unión en aluminio (OFI-028)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Colores</a:t>
                      </a: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p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intura </a:t>
                      </a:r>
                      <a:r>
                        <a:rPr lang="es-ES" sz="1000" kern="120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horneable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de aplicación electrostática.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23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7. Giro 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lang="es-ES" sz="1000" baseline="0" dirty="0" smtClean="0">
                          <a:latin typeface="Segoe UI Light" pitchFamily="34" charset="0"/>
                        </a:rPr>
                        <a:t>Gancho tensor corto y escuadra en acero </a:t>
                      </a:r>
                      <a:r>
                        <a:rPr lang="es-ES" sz="1000" baseline="0" dirty="0" err="1" smtClean="0">
                          <a:latin typeface="Segoe UI Light" pitchFamily="34" charset="0"/>
                        </a:rPr>
                        <a:t>cr</a:t>
                      </a:r>
                      <a:r>
                        <a:rPr lang="es-ES" sz="1000" baseline="0" dirty="0" smtClean="0">
                          <a:latin typeface="Segoe UI Light" pitchFamily="34" charset="0"/>
                        </a:rPr>
                        <a:t> calibre 12. Tapa superior en plástico PVC. Perfil burbuja en PVC flexible. Perfil de unión en aluminio (OFI-028)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Pintura </a:t>
                      </a:r>
                      <a:r>
                        <a:rPr lang="es-ES" sz="1000" kern="120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horneable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de aplicación electrostática.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23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8. Terminal con y sin canaleta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lang="es-ES" sz="1000" baseline="0" dirty="0" smtClean="0">
                          <a:latin typeface="Segoe UI Light" pitchFamily="34" charset="0"/>
                        </a:rPr>
                        <a:t>Tapa superior y perfil tapa luz terminal en plástico PVC. Perfil burbuja en PVC flexible. Perfil de unión en aluminio (OFI-028). La llegada con canaleta lleva un aluminio OFI-004 y 002 como complemento.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Colores</a:t>
                      </a: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p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intura </a:t>
                      </a:r>
                      <a:r>
                        <a:rPr lang="es-ES" sz="1000" kern="120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horneable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de aplicación electrostática.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370" name="47 Rectángulo"/>
          <p:cNvSpPr>
            <a:spLocks noChangeArrowheads="1"/>
          </p:cNvSpPr>
          <p:nvPr/>
        </p:nvSpPr>
        <p:spPr bwMode="auto">
          <a:xfrm>
            <a:off x="5129213" y="8915400"/>
            <a:ext cx="1728787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MX" sz="900" dirty="0">
                <a:latin typeface="Helvetica"/>
                <a:cs typeface="Helvetica"/>
              </a:rPr>
              <a:t>F-30-042  Rev.03; 11-04-2014</a:t>
            </a:r>
            <a:endParaRPr lang="es-CO" sz="900" dirty="0">
              <a:latin typeface="Helvetica"/>
              <a:cs typeface="Helvetica"/>
            </a:endParaRPr>
          </a:p>
        </p:txBody>
      </p:sp>
      <p:sp>
        <p:nvSpPr>
          <p:cNvPr id="13462" name="AutoShape 150" descr="cid:image003.png@01CBE32D.F4A50500"/>
          <p:cNvSpPr>
            <a:spLocks noChangeAspect="1" noChangeArrowheads="1"/>
          </p:cNvSpPr>
          <p:nvPr/>
        </p:nvSpPr>
        <p:spPr bwMode="auto">
          <a:xfrm>
            <a:off x="123825" y="46038"/>
            <a:ext cx="1962150" cy="857250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  <p:sp>
        <p:nvSpPr>
          <p:cNvPr id="13464" name="AutoShape 152" descr="cid:image003.png@01CBE32D.F4A50500"/>
          <p:cNvSpPr>
            <a:spLocks noChangeAspect="1" noChangeArrowheads="1"/>
          </p:cNvSpPr>
          <p:nvPr/>
        </p:nvSpPr>
        <p:spPr bwMode="auto">
          <a:xfrm>
            <a:off x="2214554" y="4214810"/>
            <a:ext cx="1962150" cy="857250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  <p:sp>
        <p:nvSpPr>
          <p:cNvPr id="2" name="13 Rectángulo"/>
          <p:cNvSpPr/>
          <p:nvPr/>
        </p:nvSpPr>
        <p:spPr>
          <a:xfrm>
            <a:off x="5805264" y="997701"/>
            <a:ext cx="2074816" cy="2635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s-MX" sz="1400" b="1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Giros</a:t>
            </a:r>
            <a:endParaRPr lang="es-MX" sz="1400" b="1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146" name="AutoShape 2" descr="Imágenes integradas 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6148" name="AutoShape 4" descr="Imágenes integradas 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32" name="47 Rectángulo"/>
          <p:cNvSpPr>
            <a:spLocks noChangeArrowheads="1"/>
          </p:cNvSpPr>
          <p:nvPr/>
        </p:nvSpPr>
        <p:spPr bwMode="auto">
          <a:xfrm>
            <a:off x="113755" y="1669713"/>
            <a:ext cx="69323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O" sz="1000" dirty="0" smtClean="0">
                <a:latin typeface="Trebuchet MS" pitchFamily="34" charset="0"/>
              </a:rPr>
              <a:t>1.</a:t>
            </a:r>
            <a:endParaRPr lang="es-CO" sz="1000" dirty="0">
              <a:latin typeface="Trebuchet MS" pitchFamily="34" charset="0"/>
            </a:endParaRPr>
          </a:p>
        </p:txBody>
      </p:sp>
      <p:sp>
        <p:nvSpPr>
          <p:cNvPr id="33" name="47 Rectángulo"/>
          <p:cNvSpPr>
            <a:spLocks noChangeArrowheads="1"/>
          </p:cNvSpPr>
          <p:nvPr/>
        </p:nvSpPr>
        <p:spPr bwMode="auto">
          <a:xfrm>
            <a:off x="1484784" y="1669713"/>
            <a:ext cx="69323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O" sz="1000" dirty="0">
                <a:latin typeface="Trebuchet MS" pitchFamily="34" charset="0"/>
              </a:rPr>
              <a:t>2</a:t>
            </a:r>
            <a:r>
              <a:rPr lang="es-CO" sz="1000" dirty="0" smtClean="0">
                <a:latin typeface="Trebuchet MS" pitchFamily="34" charset="0"/>
              </a:rPr>
              <a:t>.</a:t>
            </a:r>
            <a:endParaRPr lang="es-CO" sz="1000" dirty="0">
              <a:latin typeface="Trebuchet MS" pitchFamily="34" charset="0"/>
            </a:endParaRPr>
          </a:p>
        </p:txBody>
      </p:sp>
      <p:sp>
        <p:nvSpPr>
          <p:cNvPr id="35" name="47 Rectángulo"/>
          <p:cNvSpPr>
            <a:spLocks noChangeArrowheads="1"/>
          </p:cNvSpPr>
          <p:nvPr/>
        </p:nvSpPr>
        <p:spPr bwMode="auto">
          <a:xfrm>
            <a:off x="260350" y="2559248"/>
            <a:ext cx="69323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O" sz="1000" dirty="0" smtClean="0">
                <a:latin typeface="Trebuchet MS" pitchFamily="34" charset="0"/>
              </a:rPr>
              <a:t>5.</a:t>
            </a:r>
            <a:endParaRPr lang="es-CO" sz="1000" dirty="0">
              <a:latin typeface="Trebuchet MS" pitchFamily="34" charset="0"/>
            </a:endParaRPr>
          </a:p>
        </p:txBody>
      </p:sp>
      <p:sp>
        <p:nvSpPr>
          <p:cNvPr id="36" name="47 Rectángulo"/>
          <p:cNvSpPr>
            <a:spLocks noChangeArrowheads="1"/>
          </p:cNvSpPr>
          <p:nvPr/>
        </p:nvSpPr>
        <p:spPr bwMode="auto">
          <a:xfrm>
            <a:off x="2364875" y="2639073"/>
            <a:ext cx="69323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O" sz="1000" dirty="0">
                <a:latin typeface="Trebuchet MS" pitchFamily="34" charset="0"/>
              </a:rPr>
              <a:t>6</a:t>
            </a:r>
            <a:r>
              <a:rPr lang="es-CO" sz="1000" dirty="0" smtClean="0">
                <a:latin typeface="Trebuchet MS" pitchFamily="34" charset="0"/>
              </a:rPr>
              <a:t>.</a:t>
            </a:r>
            <a:endParaRPr lang="es-CO" sz="1000" dirty="0">
              <a:latin typeface="Trebuchet MS" pitchFamily="34" charset="0"/>
            </a:endParaRPr>
          </a:p>
        </p:txBody>
      </p:sp>
      <p:sp>
        <p:nvSpPr>
          <p:cNvPr id="37" name="47 Rectángulo"/>
          <p:cNvSpPr>
            <a:spLocks noChangeArrowheads="1"/>
          </p:cNvSpPr>
          <p:nvPr/>
        </p:nvSpPr>
        <p:spPr bwMode="auto">
          <a:xfrm>
            <a:off x="4651097" y="2644292"/>
            <a:ext cx="69323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O" sz="1000" dirty="0" smtClean="0">
                <a:latin typeface="Trebuchet MS" pitchFamily="34" charset="0"/>
              </a:rPr>
              <a:t>7.</a:t>
            </a:r>
            <a:endParaRPr lang="es-CO" sz="1000" dirty="0">
              <a:latin typeface="Trebuchet MS" pitchFamily="34" charset="0"/>
            </a:endParaRPr>
          </a:p>
        </p:txBody>
      </p:sp>
      <p:sp>
        <p:nvSpPr>
          <p:cNvPr id="38" name="47 Rectángulo"/>
          <p:cNvSpPr>
            <a:spLocks noChangeArrowheads="1"/>
          </p:cNvSpPr>
          <p:nvPr/>
        </p:nvSpPr>
        <p:spPr bwMode="auto">
          <a:xfrm>
            <a:off x="923164" y="3438088"/>
            <a:ext cx="12817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O" sz="1000" dirty="0" smtClean="0">
                <a:latin typeface="Trebuchet MS" pitchFamily="34" charset="0"/>
              </a:rPr>
              <a:t>8.</a:t>
            </a:r>
          </a:p>
          <a:p>
            <a:pPr algn="ctr"/>
            <a:r>
              <a:rPr lang="es-CO" sz="1000" dirty="0" smtClean="0">
                <a:latin typeface="Trebuchet MS" pitchFamily="34" charset="0"/>
              </a:rPr>
              <a:t>Sin canaleta</a:t>
            </a:r>
            <a:endParaRPr lang="es-CO" sz="1000" dirty="0">
              <a:latin typeface="Trebuchet MS" pitchFamily="34" charset="0"/>
            </a:endParaRPr>
          </a:p>
        </p:txBody>
      </p:sp>
      <p:sp>
        <p:nvSpPr>
          <p:cNvPr id="39" name="47 Rectángulo"/>
          <p:cNvSpPr>
            <a:spLocks noChangeArrowheads="1"/>
          </p:cNvSpPr>
          <p:nvPr/>
        </p:nvSpPr>
        <p:spPr bwMode="auto">
          <a:xfrm>
            <a:off x="2924944" y="1668202"/>
            <a:ext cx="69323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O" sz="1000" dirty="0" smtClean="0">
                <a:latin typeface="Trebuchet MS" pitchFamily="34" charset="0"/>
              </a:rPr>
              <a:t>4.</a:t>
            </a:r>
            <a:endParaRPr lang="es-CO" sz="1000" dirty="0">
              <a:latin typeface="Trebuchet MS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949" y="1089843"/>
            <a:ext cx="875861" cy="846125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0907" y="965105"/>
            <a:ext cx="507373" cy="463466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21237" y="1358477"/>
            <a:ext cx="863336" cy="535864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20214" y="1357877"/>
            <a:ext cx="1333122" cy="521130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97717" y="854135"/>
            <a:ext cx="807622" cy="486698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80611" y="1102836"/>
            <a:ext cx="1009553" cy="769959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55629" y="875139"/>
            <a:ext cx="661995" cy="397197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75621" y="2063287"/>
            <a:ext cx="850789" cy="517784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193107" y="2083066"/>
            <a:ext cx="854761" cy="514856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244230" y="1949332"/>
            <a:ext cx="1209105" cy="1199489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298105" y="2135483"/>
            <a:ext cx="885117" cy="538657"/>
          </a:xfrm>
          <a:prstGeom prst="rect">
            <a:avLst/>
          </a:prstGeom>
        </p:spPr>
      </p:pic>
      <p:sp>
        <p:nvSpPr>
          <p:cNvPr id="51" name="47 Rectángulo"/>
          <p:cNvSpPr>
            <a:spLocks noChangeArrowheads="1"/>
          </p:cNvSpPr>
          <p:nvPr/>
        </p:nvSpPr>
        <p:spPr bwMode="auto">
          <a:xfrm>
            <a:off x="3058114" y="3419872"/>
            <a:ext cx="12817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O" sz="1000" dirty="0" smtClean="0">
                <a:latin typeface="Trebuchet MS" pitchFamily="34" charset="0"/>
              </a:rPr>
              <a:t>8.</a:t>
            </a:r>
          </a:p>
          <a:p>
            <a:pPr algn="ctr"/>
            <a:r>
              <a:rPr lang="es-CO" sz="1000" dirty="0" smtClean="0">
                <a:latin typeface="Trebuchet MS" pitchFamily="34" charset="0"/>
              </a:rPr>
              <a:t>Con canaleta</a:t>
            </a:r>
            <a:endParaRPr lang="es-CO" sz="1000" dirty="0"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29277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45" y="1874663"/>
            <a:ext cx="2524085" cy="1594456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9751" y="1681552"/>
            <a:ext cx="2042108" cy="1787567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508" y="1901628"/>
            <a:ext cx="816910" cy="1424461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369" y="3701957"/>
            <a:ext cx="883115" cy="690372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5812" y="3551121"/>
            <a:ext cx="778742" cy="900421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79660" y="3705830"/>
            <a:ext cx="778305" cy="687503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6598" y="3635427"/>
            <a:ext cx="1005625" cy="656343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28514" y="3484410"/>
            <a:ext cx="1515174" cy="1298061"/>
          </a:xfrm>
          <a:prstGeom prst="rect">
            <a:avLst/>
          </a:prstGeom>
        </p:spPr>
      </p:pic>
      <p:sp>
        <p:nvSpPr>
          <p:cNvPr id="18" name="17 Rectángulo redondeado"/>
          <p:cNvSpPr>
            <a:spLocks noChangeArrowheads="1"/>
          </p:cNvSpPr>
          <p:nvPr/>
        </p:nvSpPr>
        <p:spPr bwMode="auto">
          <a:xfrm>
            <a:off x="214313" y="214314"/>
            <a:ext cx="6429375" cy="591316"/>
          </a:xfrm>
          <a:prstGeom prst="roundRect">
            <a:avLst>
              <a:gd name="adj" fmla="val 7903"/>
            </a:avLst>
          </a:prstGeom>
          <a:solidFill>
            <a:schemeClr val="bg1">
              <a:lumMod val="85000"/>
            </a:schemeClr>
          </a:solidFill>
          <a:ln w="3175" algn="ctr">
            <a:noFill/>
            <a:round/>
            <a:headEnd/>
            <a:tailEnd/>
          </a:ln>
        </p:spPr>
        <p:txBody>
          <a:bodyPr anchor="ctr"/>
          <a:lstStyle/>
          <a:p>
            <a:pPr algn="r"/>
            <a:r>
              <a:rPr lang="es-MX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Información Técnica de Producto – </a:t>
            </a:r>
            <a:r>
              <a:rPr lang="es-MX" b="1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Múltiple</a:t>
            </a:r>
          </a:p>
        </p:txBody>
      </p:sp>
      <p:pic>
        <p:nvPicPr>
          <p:cNvPr id="13460" name="Picture 148" descr="logo Mepal"/>
          <p:cNvPicPr>
            <a:picLocks noChangeAspect="1" noChangeArrowheads="1"/>
          </p:cNvPicPr>
          <p:nvPr/>
        </p:nvPicPr>
        <p:blipFill rotWithShape="1">
          <a:blip r:embed="rId1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17748"/>
          <a:stretch/>
        </p:blipFill>
        <p:spPr bwMode="auto">
          <a:xfrm>
            <a:off x="260350" y="271959"/>
            <a:ext cx="1440458" cy="533670"/>
          </a:xfrm>
          <a:prstGeom prst="rect">
            <a:avLst/>
          </a:prstGeom>
          <a:noFill/>
        </p:spPr>
      </p:pic>
      <p:sp>
        <p:nvSpPr>
          <p:cNvPr id="13336" name="47 Rectángulo"/>
          <p:cNvSpPr>
            <a:spLocks noChangeArrowheads="1"/>
          </p:cNvSpPr>
          <p:nvPr/>
        </p:nvSpPr>
        <p:spPr bwMode="auto">
          <a:xfrm>
            <a:off x="142852" y="8572528"/>
            <a:ext cx="6858023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MX" sz="1000" dirty="0">
                <a:latin typeface="Trebuchet MS" pitchFamily="34" charset="0"/>
              </a:rPr>
              <a:t>Nota</a:t>
            </a:r>
            <a:r>
              <a:rPr lang="es-MX" sz="1000" dirty="0" smtClean="0">
                <a:latin typeface="Trebuchet MS" pitchFamily="34" charset="0"/>
              </a:rPr>
              <a:t>:</a:t>
            </a:r>
            <a:endParaRPr lang="es-CO" sz="1000" dirty="0">
              <a:latin typeface="Trebuchet MS" pitchFamily="34" charset="0"/>
            </a:endParaRPr>
          </a:p>
        </p:txBody>
      </p:sp>
      <p:graphicFrame>
        <p:nvGraphicFramePr>
          <p:cNvPr id="13458" name="Group 1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0368966"/>
              </p:ext>
            </p:extLst>
          </p:nvPr>
        </p:nvGraphicFramePr>
        <p:xfrm>
          <a:off x="285729" y="5004048"/>
          <a:ext cx="6286543" cy="3547944"/>
        </p:xfrm>
        <a:graphic>
          <a:graphicData uri="http://schemas.openxmlformats.org/drawingml/2006/table">
            <a:tbl>
              <a:tblPr/>
              <a:tblGrid>
                <a:gridCol w="1775119"/>
                <a:gridCol w="2808312"/>
                <a:gridCol w="1703112"/>
              </a:tblGrid>
              <a:tr h="123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rebuchet MS" pitchFamily="34" charset="0"/>
                        </a:rPr>
                        <a:t>Elemento</a:t>
                      </a:r>
                      <a:endParaRPr kumimoji="0" lang="es-CO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rebuchet MS" pitchFamily="34" charset="0"/>
                        </a:rPr>
                        <a:t>Material</a:t>
                      </a:r>
                      <a:endParaRPr kumimoji="0" lang="es-CO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rebuchet MS" pitchFamily="34" charset="0"/>
                        </a:rPr>
                        <a:t>Acabado</a:t>
                      </a:r>
                      <a:endParaRPr kumimoji="0" lang="es-CO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</a:tr>
              <a:tr h="122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1. Bisel superior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Largo: 30/60/75/90/120cm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lang="es-CO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Perfil de aluminio extruido (OFI-002)</a:t>
                      </a:r>
                      <a:endParaRPr lang="es-ES" sz="1000" baseline="0" dirty="0" smtClean="0">
                        <a:latin typeface="Segoe UI Light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Colores</a:t>
                      </a: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p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intura </a:t>
                      </a:r>
                      <a:r>
                        <a:rPr lang="es-ES" sz="1000" kern="120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horneable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de aplicación electrostática.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22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2. Cintas de unión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Largo: 300cm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lang="es-CO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Plástico PVC extruido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Pintura</a:t>
                      </a: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en laca</a:t>
                      </a:r>
                      <a:endParaRPr lang="es-ES" sz="1000" kern="1200" dirty="0" smtClean="0">
                        <a:solidFill>
                          <a:schemeClr val="tx1"/>
                        </a:solidFill>
                        <a:latin typeface="Segoe UI Light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4085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3. Perfil </a:t>
                      </a:r>
                      <a:r>
                        <a:rPr kumimoji="0" lang="es-E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tapaluz</a:t>
                      </a:r>
                      <a:r>
                        <a:rPr kumimoji="0" lang="es-E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 (180°)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lang="es-CO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Plástico PVC extruido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Gris </a:t>
                      </a:r>
                      <a:r>
                        <a:rPr lang="es-ES" sz="1000" kern="120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matte</a:t>
                      </a:r>
                      <a:endParaRPr lang="es-ES" sz="1000" kern="1200" dirty="0" smtClean="0">
                        <a:solidFill>
                          <a:schemeClr val="tx1"/>
                        </a:solidFill>
                        <a:latin typeface="Segoe UI Light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23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4. Botón de presión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lang="es-CO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Nylon</a:t>
                      </a:r>
                      <a:endParaRPr lang="es-ES" sz="1000" kern="1200" dirty="0" smtClean="0">
                        <a:solidFill>
                          <a:schemeClr val="tx1"/>
                        </a:solidFill>
                        <a:latin typeface="Segoe UI Light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Blanco</a:t>
                      </a: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000" kern="1200" baseline="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matte</a:t>
                      </a:r>
                      <a:endParaRPr lang="es-ES" sz="1000" kern="1200" dirty="0" smtClean="0">
                        <a:solidFill>
                          <a:schemeClr val="tx1"/>
                        </a:solidFill>
                        <a:latin typeface="Segoe UI Light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23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5. Perfil burbuja PVC flexible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lang="es-CO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Plástico PVC extruido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endParaRPr lang="es-ES" sz="1000" kern="1200" dirty="0" smtClean="0">
                        <a:solidFill>
                          <a:schemeClr val="tx1"/>
                        </a:solidFill>
                        <a:latin typeface="Segoe UI Light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Gris </a:t>
                      </a:r>
                      <a:r>
                        <a:rPr lang="es-ES" sz="1000" kern="120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matte</a:t>
                      </a:r>
                      <a:endParaRPr lang="es-ES" sz="1000" kern="1200" dirty="0" smtClean="0">
                        <a:solidFill>
                          <a:schemeClr val="tx1"/>
                        </a:solidFill>
                        <a:latin typeface="Segoe UI Light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000" kern="1200" dirty="0" smtClean="0">
                        <a:solidFill>
                          <a:schemeClr val="tx1"/>
                        </a:solidFill>
                        <a:latin typeface="Segoe UI Light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23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6. Tambor de presión para baldosas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Plástico PVC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Negro</a:t>
                      </a: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000" kern="1200" baseline="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matte</a:t>
                      </a:r>
                      <a:endParaRPr lang="es-ES" sz="1000" kern="1200" dirty="0" smtClean="0">
                        <a:solidFill>
                          <a:schemeClr val="tx1"/>
                        </a:solidFill>
                        <a:latin typeface="Segoe UI Light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23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7. Pin inseparable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lang="es-CO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Nylon</a:t>
                      </a:r>
                      <a:endParaRPr lang="es-ES" sz="1000" kern="1200" dirty="0" smtClean="0">
                        <a:solidFill>
                          <a:schemeClr val="tx1"/>
                        </a:solidFill>
                        <a:latin typeface="Segoe UI Light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endParaRPr lang="es-ES" sz="1000" kern="1200" dirty="0" smtClean="0">
                        <a:solidFill>
                          <a:schemeClr val="tx1"/>
                        </a:solidFill>
                        <a:latin typeface="Segoe UI Light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Blanco </a:t>
                      </a:r>
                      <a:r>
                        <a:rPr lang="es-ES" sz="1000" kern="120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matte</a:t>
                      </a:r>
                      <a:endParaRPr lang="es-ES" sz="1000" kern="1200" dirty="0" smtClean="0">
                        <a:solidFill>
                          <a:schemeClr val="tx1"/>
                        </a:solidFill>
                        <a:latin typeface="Segoe UI Light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23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rebuchet MS" pitchFamily="34" charset="0"/>
                        </a:rPr>
                        <a:t>8. Gancho tensor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Lámina de acero </a:t>
                      </a:r>
                      <a:r>
                        <a:rPr lang="es-ES" sz="1000" kern="120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cr</a:t>
                      </a: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calibre 12</a:t>
                      </a:r>
                      <a:endParaRPr lang="es-ES" sz="1000" kern="1200" dirty="0" smtClean="0">
                        <a:solidFill>
                          <a:schemeClr val="tx1"/>
                        </a:solidFill>
                        <a:latin typeface="Segoe UI Light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Colores</a:t>
                      </a:r>
                      <a:r>
                        <a:rPr lang="es-ES" sz="1000" kern="1200" baseline="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p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intura </a:t>
                      </a:r>
                      <a:r>
                        <a:rPr lang="es-ES" sz="1000" kern="1200" dirty="0" err="1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horneable</a:t>
                      </a:r>
                      <a:r>
                        <a:rPr lang="es-ES" sz="1000" kern="1200" dirty="0" smtClean="0">
                          <a:solidFill>
                            <a:schemeClr val="tx1"/>
                          </a:solidFill>
                          <a:latin typeface="Segoe UI Light" pitchFamily="34" charset="0"/>
                          <a:ea typeface="+mn-ea"/>
                          <a:cs typeface="+mn-cs"/>
                        </a:rPr>
                        <a:t> de aplicación electrostática.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370" name="47 Rectángulo"/>
          <p:cNvSpPr>
            <a:spLocks noChangeArrowheads="1"/>
          </p:cNvSpPr>
          <p:nvPr/>
        </p:nvSpPr>
        <p:spPr bwMode="auto">
          <a:xfrm>
            <a:off x="5129213" y="8915400"/>
            <a:ext cx="172878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MX" sz="900" dirty="0">
                <a:latin typeface="Helvetica"/>
                <a:cs typeface="Helvetica"/>
              </a:rPr>
              <a:t>F-30-042  Rev.03; 11-04-2014</a:t>
            </a:r>
            <a:endParaRPr lang="es-CO" sz="900" dirty="0">
              <a:latin typeface="Helvetica"/>
              <a:cs typeface="Helvetica"/>
            </a:endParaRPr>
          </a:p>
          <a:p>
            <a:pPr algn="ctr"/>
            <a:endParaRPr lang="es-CO" sz="900" dirty="0">
              <a:latin typeface="Calibri" pitchFamily="34" charset="0"/>
            </a:endParaRPr>
          </a:p>
        </p:txBody>
      </p:sp>
      <p:sp>
        <p:nvSpPr>
          <p:cNvPr id="13462" name="AutoShape 150" descr="cid:image003.png@01CBE32D.F4A50500"/>
          <p:cNvSpPr>
            <a:spLocks noChangeAspect="1" noChangeArrowheads="1"/>
          </p:cNvSpPr>
          <p:nvPr/>
        </p:nvSpPr>
        <p:spPr bwMode="auto">
          <a:xfrm>
            <a:off x="123825" y="46038"/>
            <a:ext cx="1962150" cy="857250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  <p:sp>
        <p:nvSpPr>
          <p:cNvPr id="2" name="13 Rectángulo"/>
          <p:cNvSpPr/>
          <p:nvPr/>
        </p:nvSpPr>
        <p:spPr>
          <a:xfrm>
            <a:off x="4926083" y="996107"/>
            <a:ext cx="1717605" cy="2635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s-MX" sz="1400" b="1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Ductos y llegadas a pared</a:t>
            </a:r>
            <a:endParaRPr lang="es-MX" sz="1400" b="1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146" name="AutoShape 2" descr="Imágenes integradas 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6148" name="AutoShape 4" descr="Imágenes integradas 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19" name="47 Rectángulo"/>
          <p:cNvSpPr>
            <a:spLocks noChangeArrowheads="1"/>
          </p:cNvSpPr>
          <p:nvPr/>
        </p:nvSpPr>
        <p:spPr bwMode="auto">
          <a:xfrm>
            <a:off x="196983" y="2105835"/>
            <a:ext cx="95240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O" sz="1000" dirty="0" smtClean="0">
                <a:latin typeface="Trebuchet MS" pitchFamily="34" charset="0"/>
              </a:rPr>
              <a:t>1.</a:t>
            </a:r>
            <a:endParaRPr lang="es-CO" sz="1000" dirty="0">
              <a:latin typeface="Trebuchet MS" pitchFamily="34" charset="0"/>
            </a:endParaRPr>
          </a:p>
        </p:txBody>
      </p:sp>
      <p:sp>
        <p:nvSpPr>
          <p:cNvPr id="20" name="47 Rectángulo"/>
          <p:cNvSpPr>
            <a:spLocks noChangeArrowheads="1"/>
          </p:cNvSpPr>
          <p:nvPr/>
        </p:nvSpPr>
        <p:spPr bwMode="auto">
          <a:xfrm>
            <a:off x="2273550" y="1552046"/>
            <a:ext cx="95240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O" sz="1000" dirty="0" smtClean="0">
                <a:latin typeface="Trebuchet MS" pitchFamily="34" charset="0"/>
              </a:rPr>
              <a:t>2.</a:t>
            </a:r>
            <a:endParaRPr lang="es-CO" sz="1000" dirty="0">
              <a:latin typeface="Trebuchet MS" pitchFamily="34" charset="0"/>
            </a:endParaRPr>
          </a:p>
        </p:txBody>
      </p:sp>
      <p:sp>
        <p:nvSpPr>
          <p:cNvPr id="23" name="47 Rectángulo"/>
          <p:cNvSpPr>
            <a:spLocks noChangeArrowheads="1"/>
          </p:cNvSpPr>
          <p:nvPr/>
        </p:nvSpPr>
        <p:spPr bwMode="auto">
          <a:xfrm>
            <a:off x="4900307" y="1551660"/>
            <a:ext cx="95240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O" sz="1000" dirty="0" smtClean="0">
                <a:latin typeface="Trebuchet MS" pitchFamily="34" charset="0"/>
              </a:rPr>
              <a:t>3.</a:t>
            </a:r>
            <a:endParaRPr lang="es-CO" sz="1000" dirty="0">
              <a:latin typeface="Trebuchet MS" pitchFamily="34" charset="0"/>
            </a:endParaRPr>
          </a:p>
        </p:txBody>
      </p:sp>
      <p:sp>
        <p:nvSpPr>
          <p:cNvPr id="24" name="47 Rectángulo"/>
          <p:cNvSpPr>
            <a:spLocks noChangeArrowheads="1"/>
          </p:cNvSpPr>
          <p:nvPr/>
        </p:nvSpPr>
        <p:spPr bwMode="auto">
          <a:xfrm>
            <a:off x="-51463" y="4185936"/>
            <a:ext cx="95240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O" sz="1000" dirty="0" smtClean="0">
                <a:latin typeface="Trebuchet MS" pitchFamily="34" charset="0"/>
              </a:rPr>
              <a:t>4.</a:t>
            </a:r>
            <a:endParaRPr lang="es-CO" sz="1000" dirty="0">
              <a:latin typeface="Trebuchet MS" pitchFamily="34" charset="0"/>
            </a:endParaRPr>
          </a:p>
        </p:txBody>
      </p:sp>
      <p:sp>
        <p:nvSpPr>
          <p:cNvPr id="27" name="47 Rectángulo"/>
          <p:cNvSpPr>
            <a:spLocks noChangeArrowheads="1"/>
          </p:cNvSpPr>
          <p:nvPr/>
        </p:nvSpPr>
        <p:spPr bwMode="auto">
          <a:xfrm>
            <a:off x="937332" y="4166127"/>
            <a:ext cx="95240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O" sz="1000" dirty="0">
                <a:latin typeface="Trebuchet MS" pitchFamily="34" charset="0"/>
              </a:rPr>
              <a:t>5</a:t>
            </a:r>
            <a:r>
              <a:rPr lang="es-CO" sz="1000" dirty="0" smtClean="0">
                <a:latin typeface="Trebuchet MS" pitchFamily="34" charset="0"/>
              </a:rPr>
              <a:t>.</a:t>
            </a:r>
            <a:endParaRPr lang="es-CO" sz="1000" dirty="0">
              <a:latin typeface="Trebuchet MS" pitchFamily="34" charset="0"/>
            </a:endParaRPr>
          </a:p>
        </p:txBody>
      </p:sp>
      <p:sp>
        <p:nvSpPr>
          <p:cNvPr id="29" name="47 Rectángulo"/>
          <p:cNvSpPr>
            <a:spLocks noChangeArrowheads="1"/>
          </p:cNvSpPr>
          <p:nvPr/>
        </p:nvSpPr>
        <p:spPr bwMode="auto">
          <a:xfrm>
            <a:off x="2157830" y="4166126"/>
            <a:ext cx="95240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O" sz="1000" dirty="0">
                <a:latin typeface="Trebuchet MS" pitchFamily="34" charset="0"/>
              </a:rPr>
              <a:t>6</a:t>
            </a:r>
            <a:r>
              <a:rPr lang="es-CO" sz="1000" dirty="0" smtClean="0">
                <a:latin typeface="Trebuchet MS" pitchFamily="34" charset="0"/>
              </a:rPr>
              <a:t>.</a:t>
            </a:r>
            <a:endParaRPr lang="es-CO" sz="1000" dirty="0">
              <a:latin typeface="Trebuchet MS" pitchFamily="34" charset="0"/>
            </a:endParaRPr>
          </a:p>
        </p:txBody>
      </p:sp>
      <p:sp>
        <p:nvSpPr>
          <p:cNvPr id="32" name="47 Rectángulo"/>
          <p:cNvSpPr>
            <a:spLocks noChangeArrowheads="1"/>
          </p:cNvSpPr>
          <p:nvPr/>
        </p:nvSpPr>
        <p:spPr bwMode="auto">
          <a:xfrm>
            <a:off x="3416522" y="4146108"/>
            <a:ext cx="95240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O" sz="1000" dirty="0" smtClean="0">
                <a:latin typeface="Trebuchet MS" pitchFamily="34" charset="0"/>
              </a:rPr>
              <a:t>7.</a:t>
            </a:r>
            <a:endParaRPr lang="es-CO" sz="1000" dirty="0">
              <a:latin typeface="Trebuchet MS" pitchFamily="34" charset="0"/>
            </a:endParaRPr>
          </a:p>
        </p:txBody>
      </p:sp>
      <p:sp>
        <p:nvSpPr>
          <p:cNvPr id="33" name="47 Rectángulo"/>
          <p:cNvSpPr>
            <a:spLocks noChangeArrowheads="1"/>
          </p:cNvSpPr>
          <p:nvPr/>
        </p:nvSpPr>
        <p:spPr bwMode="auto">
          <a:xfrm>
            <a:off x="4576898" y="4142200"/>
            <a:ext cx="95240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O" sz="1000" dirty="0">
                <a:latin typeface="Trebuchet MS" pitchFamily="34" charset="0"/>
              </a:rPr>
              <a:t>8</a:t>
            </a:r>
            <a:r>
              <a:rPr lang="es-CO" sz="1000" dirty="0" smtClean="0">
                <a:latin typeface="Trebuchet MS" pitchFamily="34" charset="0"/>
              </a:rPr>
              <a:t>.</a:t>
            </a:r>
            <a:endParaRPr lang="es-CO" sz="1000" dirty="0"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6884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B56B06542A1FE48802DCD9D4507EC0D" ma:contentTypeVersion="8" ma:contentTypeDescription="Crear nuevo documento." ma:contentTypeScope="" ma:versionID="77e745ba635e0b8d7f911406510823b8">
  <xsd:schema xmlns:xsd="http://www.w3.org/2001/XMLSchema" xmlns:xs="http://www.w3.org/2001/XMLSchema" xmlns:p="http://schemas.microsoft.com/office/2006/metadata/properties" xmlns:ns2="d0ea7fd4-c097-41d3-995f-2bd51fde8af4" xmlns:ns3="1a11a050-c193-4a2f-beef-63b6f5684bef" targetNamespace="http://schemas.microsoft.com/office/2006/metadata/properties" ma:root="true" ma:fieldsID="70f55ea327673404998ed11a8ce8c3f7" ns2:_="" ns3:_="">
    <xsd:import namespace="d0ea7fd4-c097-41d3-995f-2bd51fde8af4"/>
    <xsd:import namespace="1a11a050-c193-4a2f-beef-63b6f5684be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EventHashCode" minOccurs="0"/>
                <xsd:element ref="ns3:MediaServiceGenerationTime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ea7fd4-c097-41d3-995f-2bd51fde8af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11a050-c193-4a2f-beef-63b6f5684b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BBD4486-A2C5-4D23-85EE-D0EA7811DF6C}"/>
</file>

<file path=customXml/itemProps2.xml><?xml version="1.0" encoding="utf-8"?>
<ds:datastoreItem xmlns:ds="http://schemas.openxmlformats.org/officeDocument/2006/customXml" ds:itemID="{B19CEF78-39D1-4FBF-A5BD-D96D7442DD81}"/>
</file>

<file path=customXml/itemProps3.xml><?xml version="1.0" encoding="utf-8"?>
<ds:datastoreItem xmlns:ds="http://schemas.openxmlformats.org/officeDocument/2006/customXml" ds:itemID="{9BE8485F-CFA0-4DCC-BB8D-15ABCF024B4F}"/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2235</Words>
  <Application>Microsoft Macintosh PowerPoint</Application>
  <PresentationFormat>Carta (216 x 279 mm)</PresentationFormat>
  <Paragraphs>278</Paragraphs>
  <Slides>8</Slides>
  <Notes>8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Lenovo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Lenovo User</dc:creator>
  <cp:lastModifiedBy>Jean Pierre Gonzalez Melo</cp:lastModifiedBy>
  <cp:revision>494</cp:revision>
  <dcterms:created xsi:type="dcterms:W3CDTF">2010-11-15T23:12:05Z</dcterms:created>
  <dcterms:modified xsi:type="dcterms:W3CDTF">2016-05-11T10:13:47Z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0x0101009B56B06542A1FE48802DCD9D4507EC0D</vt:lpwstr>
  </property>
</Properties>
</file>